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51" y="31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72352-8B56-AE8E-44AD-F22C95DB6B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智能</a:t>
            </a:r>
            <a:r>
              <a:rPr lang="en-US" altLang="zh-CN" dirty="0"/>
              <a:t>·</a:t>
            </a:r>
            <a:r>
              <a:rPr lang="zh-CN" altLang="en-US" dirty="0"/>
              <a:t>学习搭子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370A3C-C87E-8FC1-67A2-9F07BD73E52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/>
              <a:t>V2.0 </a:t>
            </a:r>
            <a:r>
              <a:rPr lang="zh-CN" altLang="en-US" sz="3200" dirty="0"/>
              <a:t>企划与探索</a:t>
            </a:r>
          </a:p>
        </p:txBody>
      </p:sp>
    </p:spTree>
    <p:extLst>
      <p:ext uri="{BB962C8B-B14F-4D97-AF65-F5344CB8AC3E}">
        <p14:creationId xmlns:p14="http://schemas.microsoft.com/office/powerpoint/2010/main" val="1126499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B50615-9A02-020E-DDD3-570AF15A7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项目研发架构</a:t>
            </a:r>
            <a:r>
              <a:rPr lang="en-US" altLang="zh-CN" dirty="0"/>
              <a:t>&amp;</a:t>
            </a:r>
            <a:r>
              <a:rPr lang="zh-CN" altLang="en-US" dirty="0"/>
              <a:t>层次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F3262B-0508-FF3E-4BD6-D7A8B7F49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数字人智能课堂（</a:t>
            </a:r>
            <a:r>
              <a:rPr lang="en-US" altLang="zh-CN" dirty="0"/>
              <a:t>V4.0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课堂</a:t>
            </a:r>
            <a:r>
              <a:rPr lang="en-US" altLang="zh-CN" dirty="0"/>
              <a:t>PPT</a:t>
            </a:r>
            <a:r>
              <a:rPr lang="zh-CN" altLang="en-US" dirty="0"/>
              <a:t>、</a:t>
            </a:r>
            <a:r>
              <a:rPr lang="en-US" altLang="zh-CN" dirty="0"/>
              <a:t>Word</a:t>
            </a:r>
            <a:r>
              <a:rPr lang="zh-CN" altLang="en-US" dirty="0"/>
              <a:t>文档生成系统（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数字人伴学系统（</a:t>
            </a:r>
            <a:r>
              <a:rPr lang="en-US" altLang="zh-CN" dirty="0"/>
              <a:t>V3.0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zh-CN" altLang="en-US" dirty="0"/>
              <a:t>语音</a:t>
            </a:r>
            <a:r>
              <a:rPr lang="en-US" altLang="zh-CN" dirty="0"/>
              <a:t>-</a:t>
            </a:r>
            <a:r>
              <a:rPr lang="zh-CN" altLang="en-US" dirty="0"/>
              <a:t>情感识别系统（</a:t>
            </a:r>
            <a:r>
              <a:rPr lang="en-US" altLang="zh-CN" dirty="0"/>
              <a:t>V2.0+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>
                <a:highlight>
                  <a:srgbClr val="FFFF00"/>
                </a:highlight>
              </a:rPr>
              <a:t>多智能体</a:t>
            </a:r>
            <a:r>
              <a:rPr lang="en-US" altLang="zh-CN" dirty="0">
                <a:highlight>
                  <a:srgbClr val="FFFF00"/>
                </a:highlight>
              </a:rPr>
              <a:t>-</a:t>
            </a:r>
            <a:r>
              <a:rPr lang="zh-CN" altLang="en-US" dirty="0">
                <a:highlight>
                  <a:srgbClr val="FFFF00"/>
                </a:highlight>
              </a:rPr>
              <a:t>知识库协作系统（</a:t>
            </a:r>
            <a:r>
              <a:rPr lang="en-US" altLang="zh-CN" dirty="0">
                <a:highlight>
                  <a:srgbClr val="FFFF00"/>
                </a:highlight>
              </a:rPr>
              <a:t>V2.0</a:t>
            </a:r>
            <a:r>
              <a:rPr lang="zh-CN" altLang="en-US" dirty="0">
                <a:highlight>
                  <a:srgbClr val="FFFF00"/>
                </a:highlight>
              </a:rPr>
              <a:t>）</a:t>
            </a:r>
            <a:endParaRPr lang="en-US" altLang="zh-CN" dirty="0">
              <a:highlight>
                <a:srgbClr val="FFFF00"/>
              </a:highlight>
            </a:endParaRPr>
          </a:p>
          <a:p>
            <a:pPr lvl="3"/>
            <a:r>
              <a:rPr lang="zh-CN" altLang="en-US" dirty="0">
                <a:highlight>
                  <a:srgbClr val="00FF00"/>
                </a:highlight>
              </a:rPr>
              <a:t>用户答题平台（</a:t>
            </a:r>
            <a:r>
              <a:rPr lang="en-US" altLang="zh-CN" dirty="0">
                <a:highlight>
                  <a:srgbClr val="00FF00"/>
                </a:highlight>
              </a:rPr>
              <a:t>V1.0-</a:t>
            </a:r>
            <a:r>
              <a:rPr lang="zh-CN" altLang="en-US" dirty="0">
                <a:highlight>
                  <a:srgbClr val="00FF00"/>
                </a:highlight>
              </a:rPr>
              <a:t>课程基线）√ </a:t>
            </a:r>
            <a:r>
              <a:rPr lang="en-US" altLang="zh-CN" dirty="0">
                <a:highlight>
                  <a:srgbClr val="00FF00"/>
                </a:highlight>
              </a:rPr>
              <a:t>2025.10.11</a:t>
            </a:r>
            <a:r>
              <a:rPr lang="zh-CN" altLang="en-US" dirty="0">
                <a:highlight>
                  <a:srgbClr val="00FF00"/>
                </a:highlight>
              </a:rPr>
              <a:t>已验收</a:t>
            </a:r>
            <a:endParaRPr lang="en-US" altLang="zh-CN" dirty="0">
              <a:highlight>
                <a:srgbClr val="00FF00"/>
              </a:highlight>
            </a:endParaRPr>
          </a:p>
          <a:p>
            <a:pPr lvl="3"/>
            <a:r>
              <a:rPr lang="zh-CN" altLang="en-US" dirty="0">
                <a:highlight>
                  <a:srgbClr val="C0C0C0"/>
                </a:highlight>
              </a:rPr>
              <a:t>日语游戏化练习平台（</a:t>
            </a:r>
            <a:r>
              <a:rPr lang="en-US" altLang="zh-CN" dirty="0">
                <a:highlight>
                  <a:srgbClr val="C0C0C0"/>
                </a:highlight>
              </a:rPr>
              <a:t>V1.0-</a:t>
            </a:r>
            <a:r>
              <a:rPr lang="zh-CN" altLang="en-US" dirty="0">
                <a:highlight>
                  <a:srgbClr val="C0C0C0"/>
                </a:highlight>
              </a:rPr>
              <a:t>暑期东语外包）√ 已上线</a:t>
            </a:r>
            <a:endParaRPr lang="en-US" altLang="zh-CN" dirty="0">
              <a:highlight>
                <a:srgbClr val="C0C0C0"/>
              </a:highlight>
            </a:endParaRPr>
          </a:p>
          <a:p>
            <a:pPr lvl="2"/>
            <a:r>
              <a:rPr lang="zh-CN" altLang="en-US" dirty="0"/>
              <a:t>语音克隆</a:t>
            </a:r>
            <a:r>
              <a:rPr lang="en-US" altLang="zh-CN" dirty="0"/>
              <a:t>-</a:t>
            </a:r>
            <a:r>
              <a:rPr lang="zh-CN" altLang="en-US" dirty="0"/>
              <a:t>合成系统</a:t>
            </a:r>
            <a:r>
              <a:rPr lang="en-US" altLang="zh-CN" dirty="0"/>
              <a:t>(V2.0+)</a:t>
            </a:r>
          </a:p>
          <a:p>
            <a:pPr lvl="2"/>
            <a:r>
              <a:rPr lang="zh-CN" altLang="en-US" dirty="0"/>
              <a:t>数字人合成</a:t>
            </a:r>
            <a:r>
              <a:rPr lang="en-US" altLang="zh-CN" dirty="0"/>
              <a:t>-</a:t>
            </a:r>
            <a:r>
              <a:rPr lang="zh-CN" altLang="en-US" dirty="0"/>
              <a:t>推流系统</a:t>
            </a:r>
            <a:r>
              <a:rPr lang="en-US" altLang="zh-CN" dirty="0"/>
              <a:t>(V2.0+)</a:t>
            </a:r>
          </a:p>
          <a:p>
            <a:pPr lvl="1"/>
            <a:r>
              <a:rPr lang="zh-CN" altLang="en-US" dirty="0"/>
              <a:t>数字人教师讲演系统（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pPr lvl="1"/>
            <a:r>
              <a:rPr lang="zh-CN" altLang="en-US" dirty="0"/>
              <a:t>可解释性课程知识视频合成系统（</a:t>
            </a:r>
            <a:r>
              <a:rPr lang="en-US" altLang="zh-CN" dirty="0"/>
              <a:t>V3.0+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  <a:p>
            <a:pPr marL="914400" lvl="2" indent="0">
              <a:buNone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6881F70-DF2C-8CE6-FE8B-C2245E65A22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602" y="1027906"/>
            <a:ext cx="3888000" cy="526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793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形用户界面, 应用程序&#10;&#10;AI 生成的内容可能不正确。">
            <a:extLst>
              <a:ext uri="{FF2B5EF4-FFF2-40B4-BE49-F238E27FC236}">
                <a16:creationId xmlns:a16="http://schemas.microsoft.com/office/drawing/2014/main" id="{FA925ED1-2903-52E4-711B-1F07C5191B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2902" y="572756"/>
            <a:ext cx="6037227" cy="5184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3DEFB30-AEDB-4552-4D6A-0317C013E158}"/>
              </a:ext>
            </a:extLst>
          </p:cNvPr>
          <p:cNvSpPr txBox="1"/>
          <p:nvPr/>
        </p:nvSpPr>
        <p:spPr>
          <a:xfrm>
            <a:off x="7092445" y="572756"/>
            <a:ext cx="39992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1.</a:t>
            </a:r>
            <a:r>
              <a:rPr lang="zh-CN" altLang="en-US" sz="2400" dirty="0"/>
              <a:t>配置智能体元信息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8FCB559-4037-A218-70D2-6C20735516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445" y="1363170"/>
            <a:ext cx="4154452" cy="439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592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 descr="图表&#10;&#10;AI 生成的内容可能不正确。">
            <a:extLst>
              <a:ext uri="{FF2B5EF4-FFF2-40B4-BE49-F238E27FC236}">
                <a16:creationId xmlns:a16="http://schemas.microsoft.com/office/drawing/2014/main" id="{2A5E2845-2007-7071-3724-BBD5263CE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39" y="347652"/>
            <a:ext cx="11404321" cy="388800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5B34185-25C2-487A-B0BE-10D02DF90BC7}"/>
              </a:ext>
            </a:extLst>
          </p:cNvPr>
          <p:cNvSpPr txBox="1"/>
          <p:nvPr/>
        </p:nvSpPr>
        <p:spPr>
          <a:xfrm>
            <a:off x="718457" y="4235652"/>
            <a:ext cx="966149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Agent </a:t>
            </a:r>
            <a:r>
              <a:rPr lang="zh-CN" altLang="en-US" sz="2400" dirty="0"/>
              <a:t>智能体：统筹全局</a:t>
            </a:r>
            <a:endParaRPr lang="en-US" altLang="zh-CN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LLM </a:t>
            </a:r>
            <a:r>
              <a:rPr lang="zh-CN" altLang="en-US" sz="2400" dirty="0"/>
              <a:t>大模型：承上启下、智能体的基础能力</a:t>
            </a:r>
            <a:r>
              <a:rPr lang="en-US" altLang="zh-CN" sz="2400" dirty="0"/>
              <a:t>-</a:t>
            </a:r>
            <a:r>
              <a:rPr lang="zh-CN" altLang="en-US" sz="2400" dirty="0"/>
              <a:t>连接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Memory </a:t>
            </a:r>
            <a:r>
              <a:rPr lang="zh-CN" altLang="en-US" sz="2400" dirty="0"/>
              <a:t>记忆：数据库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Tool </a:t>
            </a:r>
            <a:r>
              <a:rPr lang="zh-CN" altLang="en-US" sz="2400" dirty="0"/>
              <a:t>工具：增广</a:t>
            </a:r>
            <a:endParaRPr lang="en-US" altLang="zh-CN" sz="2400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Knowledge </a:t>
            </a:r>
            <a:r>
              <a:rPr lang="zh-CN" altLang="en-US" sz="2400" dirty="0"/>
              <a:t>知识：本地</a:t>
            </a:r>
            <a:r>
              <a:rPr lang="en-US" altLang="zh-CN" sz="2400" dirty="0"/>
              <a:t>RAG-</a:t>
            </a:r>
            <a:r>
              <a:rPr lang="zh-CN" altLang="en-US" sz="2400" dirty="0"/>
              <a:t>知识增广（</a:t>
            </a:r>
            <a:r>
              <a:rPr lang="en-US" altLang="zh-CN" sz="2400" dirty="0"/>
              <a:t>FT</a:t>
            </a:r>
            <a:r>
              <a:rPr lang="zh-CN" altLang="en-US" sz="2400" dirty="0"/>
              <a:t>）数据库</a:t>
            </a:r>
            <a:r>
              <a:rPr lang="en-US" altLang="zh-CN" sz="2400" dirty="0"/>
              <a:t> 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28765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5AEC74DD-BD99-65C8-FC5A-B41AC6E9785E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D08F24A-3E69-688F-D9B0-C7FB41C20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9720000" cy="35371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2556C3F-77F9-79B3-2904-9D090F18EF8F}"/>
              </a:ext>
            </a:extLst>
          </p:cNvPr>
          <p:cNvSpPr txBox="1"/>
          <p:nvPr/>
        </p:nvSpPr>
        <p:spPr>
          <a:xfrm>
            <a:off x="447153" y="978887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智能体初始化、预调度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0AEC1D4A-3ABD-AA97-0A4F-943F2EA46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2071263"/>
            <a:ext cx="9720000" cy="943650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22987D26-43E8-254D-4ED2-6B63AE36E7E1}"/>
              </a:ext>
            </a:extLst>
          </p:cNvPr>
          <p:cNvSpPr txBox="1"/>
          <p:nvPr/>
        </p:nvSpPr>
        <p:spPr>
          <a:xfrm>
            <a:off x="447153" y="1701931"/>
            <a:ext cx="2092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用户问题 </a:t>
            </a:r>
            <a:r>
              <a:rPr lang="en-US" altLang="zh-CN" dirty="0"/>
              <a:t>-&gt; </a:t>
            </a:r>
            <a:r>
              <a:rPr lang="zh-CN" altLang="en-US" dirty="0"/>
              <a:t>智能体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8A994559-056A-7881-8992-3739F9A9C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3" y="3384245"/>
            <a:ext cx="5184000" cy="192558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FF22C35F-3B36-C90A-C01D-EEBCD7C39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4522" y="3384245"/>
            <a:ext cx="3109512" cy="19260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9BB7B583-2504-2242-EECC-A7B4FE1B5034}"/>
              </a:ext>
            </a:extLst>
          </p:cNvPr>
          <p:cNvSpPr txBox="1"/>
          <p:nvPr/>
        </p:nvSpPr>
        <p:spPr>
          <a:xfrm>
            <a:off x="447153" y="3014913"/>
            <a:ext cx="3477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</a:t>
            </a:r>
            <a:r>
              <a:rPr lang="zh-CN" altLang="en-US" dirty="0"/>
              <a:t>工具调用（夸克搜索）</a:t>
            </a:r>
          </a:p>
        </p:txBody>
      </p:sp>
    </p:spTree>
    <p:extLst>
      <p:ext uri="{BB962C8B-B14F-4D97-AF65-F5344CB8AC3E}">
        <p14:creationId xmlns:p14="http://schemas.microsoft.com/office/powerpoint/2010/main" val="780686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3064C-CE0B-9CF3-431A-90B93EC92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800FDCFB-A9F1-42F5-9C1B-EE1F91197FAA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80B56E4-9E67-A842-E7D5-8DDEDF3DF347}"/>
              </a:ext>
            </a:extLst>
          </p:cNvPr>
          <p:cNvSpPr txBox="1"/>
          <p:nvPr/>
        </p:nvSpPr>
        <p:spPr>
          <a:xfrm>
            <a:off x="447153" y="978887"/>
            <a:ext cx="3477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工具调用（夸克搜索） </a:t>
            </a:r>
            <a:r>
              <a:rPr lang="en-US" altLang="zh-CN" dirty="0"/>
              <a:t>-&gt; </a:t>
            </a:r>
            <a:r>
              <a:rPr lang="zh-CN" altLang="en-US" dirty="0"/>
              <a:t>智能体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C8921EB-BD28-BCC4-41DF-40FD8578A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48219"/>
            <a:ext cx="10047654" cy="283941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AB5B69-05F9-B28E-75AB-E860308DA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4076" y="4187633"/>
            <a:ext cx="4530731" cy="1800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B50602D-0AC7-C0B5-7931-17D02B606D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53" y="4187633"/>
            <a:ext cx="5516923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271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362B-DCFC-17FC-734B-3B4AB1228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3D23878-D845-F53E-6772-F3220A3DFEBB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A4C016-8092-E60F-2B2E-868E1E64EC4C}"/>
              </a:ext>
            </a:extLst>
          </p:cNvPr>
          <p:cNvSpPr txBox="1"/>
          <p:nvPr/>
        </p:nvSpPr>
        <p:spPr>
          <a:xfrm>
            <a:off x="447153" y="978887"/>
            <a:ext cx="522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智能体 </a:t>
            </a:r>
            <a:r>
              <a:rPr lang="en-US" altLang="zh-CN" dirty="0"/>
              <a:t>-&gt; RAG</a:t>
            </a:r>
            <a:r>
              <a:rPr lang="zh-CN" altLang="en-US" dirty="0"/>
              <a:t>知识库（本地向量数据库</a:t>
            </a:r>
            <a:r>
              <a:rPr lang="en-US" altLang="zh-CN" dirty="0"/>
              <a:t>/</a:t>
            </a:r>
            <a:r>
              <a:rPr lang="zh-CN" altLang="en-US" dirty="0"/>
              <a:t>类搜索） 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55AF508-1E1E-6E7B-FBAE-4DD3E91FE8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53" y="1350731"/>
            <a:ext cx="9720000" cy="6306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1D6BA7-9D3C-5352-78F0-2F4BF2360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53" y="2839292"/>
            <a:ext cx="5112000" cy="266797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60AC473-5EEC-5AC8-2C01-C08C60DC3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9153" y="1981372"/>
            <a:ext cx="4608000" cy="160602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B93EC293-9010-26FB-C637-D4C2AF2CD0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153" y="3533927"/>
            <a:ext cx="4608000" cy="1973342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26552A75-BD8E-D7B5-8B91-070378183558}"/>
              </a:ext>
            </a:extLst>
          </p:cNvPr>
          <p:cNvSpPr txBox="1"/>
          <p:nvPr/>
        </p:nvSpPr>
        <p:spPr>
          <a:xfrm>
            <a:off x="447153" y="2242681"/>
            <a:ext cx="357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RAG</a:t>
            </a:r>
            <a:r>
              <a:rPr lang="zh-CN" altLang="en-US" dirty="0"/>
              <a:t>知识库 </a:t>
            </a:r>
            <a:r>
              <a:rPr lang="en-US" altLang="zh-CN" dirty="0"/>
              <a:t>*</a:t>
            </a:r>
            <a:r>
              <a:rPr lang="zh-CN" altLang="en-US" dirty="0"/>
              <a:t>（已预先构建完成） </a:t>
            </a:r>
          </a:p>
        </p:txBody>
      </p:sp>
    </p:spTree>
    <p:extLst>
      <p:ext uri="{BB962C8B-B14F-4D97-AF65-F5344CB8AC3E}">
        <p14:creationId xmlns:p14="http://schemas.microsoft.com/office/powerpoint/2010/main" val="3943365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8CD45-E3C9-2AB8-501C-503448892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2016D77-D593-2D89-482D-1A8AB96CABD9}"/>
              </a:ext>
            </a:extLst>
          </p:cNvPr>
          <p:cNvSpPr txBox="1"/>
          <p:nvPr/>
        </p:nvSpPr>
        <p:spPr>
          <a:xfrm>
            <a:off x="319035" y="310216"/>
            <a:ext cx="616466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3200" dirty="0"/>
              <a:t>以一次实际的运行过程为例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2AD1096-7F55-8E15-3C18-FBB3969255F5}"/>
              </a:ext>
            </a:extLst>
          </p:cNvPr>
          <p:cNvSpPr txBox="1"/>
          <p:nvPr/>
        </p:nvSpPr>
        <p:spPr>
          <a:xfrm>
            <a:off x="447153" y="978887"/>
            <a:ext cx="2316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RAG</a:t>
            </a:r>
            <a:r>
              <a:rPr lang="zh-CN" altLang="en-US" dirty="0"/>
              <a:t>知识库 </a:t>
            </a:r>
            <a:r>
              <a:rPr lang="en-US" altLang="zh-CN" dirty="0"/>
              <a:t>-&gt; </a:t>
            </a:r>
            <a:r>
              <a:rPr lang="zh-CN" altLang="en-US" dirty="0"/>
              <a:t>智能体 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4AE8A46-83FA-C3F5-93E3-3026606F6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7547"/>
            <a:ext cx="12192000" cy="37229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4613C21-5C68-0EF5-A117-1414B7FA9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3737" y="2557471"/>
            <a:ext cx="4465098" cy="4340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9095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63CF67-2573-0B2B-C49B-1E7AF5927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0FF977-B043-2EBB-9F8F-FFF33BF4E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36FC9EB-AA1F-6FC7-0303-FEF460F6E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9313"/>
            <a:ext cx="12192000" cy="407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545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763323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263</Words>
  <Application>Microsoft Office PowerPoint</Application>
  <PresentationFormat>宽屏</PresentationFormat>
  <Paragraphs>31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3" baseType="lpstr">
      <vt:lpstr>Arial</vt:lpstr>
      <vt:lpstr>Calibri</vt:lpstr>
      <vt:lpstr>WPS</vt:lpstr>
      <vt:lpstr>AI智能·学习搭子</vt:lpstr>
      <vt:lpstr>项目研发架构&amp;层次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丁炜宸</dc:creator>
  <cp:lastModifiedBy>Dingdust</cp:lastModifiedBy>
  <cp:revision>25</cp:revision>
  <dcterms:created xsi:type="dcterms:W3CDTF">2023-08-09T12:44:00Z</dcterms:created>
  <dcterms:modified xsi:type="dcterms:W3CDTF">2025-10-21T08:20:19Z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</Properties>
</file>