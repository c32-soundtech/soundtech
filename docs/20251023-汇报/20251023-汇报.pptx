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33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72352-8B56-AE8E-44AD-F22C95DB6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智能</a:t>
            </a:r>
            <a:r>
              <a:rPr lang="en-US" altLang="zh-CN" dirty="0"/>
              <a:t>·</a:t>
            </a:r>
            <a:r>
              <a:rPr lang="zh-CN" altLang="en-US" dirty="0"/>
              <a:t>学习搭子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370A3C-C87E-8FC1-67A2-9F07BD73E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V2.0 </a:t>
            </a:r>
            <a:r>
              <a:rPr lang="zh-CN" altLang="en-US" sz="3200" dirty="0"/>
              <a:t>企划与探索</a:t>
            </a:r>
          </a:p>
        </p:txBody>
      </p:sp>
    </p:spTree>
    <p:extLst>
      <p:ext uri="{BB962C8B-B14F-4D97-AF65-F5344CB8AC3E}">
        <p14:creationId xmlns:p14="http://schemas.microsoft.com/office/powerpoint/2010/main" val="112649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50615-9A02-020E-DDD3-570AF15A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项目研发架构</a:t>
            </a:r>
            <a:r>
              <a:rPr lang="en-US" altLang="zh-CN" dirty="0"/>
              <a:t>&amp;</a:t>
            </a:r>
            <a:r>
              <a:rPr lang="zh-CN" altLang="en-US" dirty="0"/>
              <a:t>层次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F3262B-0508-FF3E-4BD6-D7A8B7F49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数字人智能课堂（</a:t>
            </a:r>
            <a:r>
              <a:rPr lang="en-US" altLang="zh-CN" dirty="0"/>
              <a:t>V4.0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课堂</a:t>
            </a:r>
            <a:r>
              <a:rPr lang="en-US" altLang="zh-CN" dirty="0"/>
              <a:t>PPT</a:t>
            </a:r>
            <a:r>
              <a:rPr lang="zh-CN" altLang="en-US" dirty="0"/>
              <a:t>、</a:t>
            </a:r>
            <a:r>
              <a:rPr lang="en-US" altLang="zh-CN" dirty="0"/>
              <a:t>Word</a:t>
            </a:r>
            <a:r>
              <a:rPr lang="zh-CN" altLang="en-US" dirty="0"/>
              <a:t>文档生成系统（</a:t>
            </a:r>
            <a:r>
              <a:rPr lang="en-US" altLang="zh-CN" dirty="0"/>
              <a:t>V3.0+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数字人伴学系统（</a:t>
            </a:r>
            <a:r>
              <a:rPr lang="en-US" altLang="zh-CN" dirty="0"/>
              <a:t>V3.0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语音</a:t>
            </a:r>
            <a:r>
              <a:rPr lang="en-US" altLang="zh-CN" dirty="0"/>
              <a:t>-</a:t>
            </a:r>
            <a:r>
              <a:rPr lang="zh-CN" altLang="en-US" dirty="0"/>
              <a:t>情感识别系统（</a:t>
            </a:r>
            <a:r>
              <a:rPr lang="en-US" altLang="zh-CN" dirty="0"/>
              <a:t>V2.0+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>
                <a:highlight>
                  <a:srgbClr val="FFFF00"/>
                </a:highlight>
              </a:rPr>
              <a:t>多智能体</a:t>
            </a:r>
            <a:r>
              <a:rPr lang="en-US" altLang="zh-CN" dirty="0">
                <a:highlight>
                  <a:srgbClr val="FFFF00"/>
                </a:highlight>
              </a:rPr>
              <a:t>-</a:t>
            </a:r>
            <a:r>
              <a:rPr lang="zh-CN" altLang="en-US" dirty="0">
                <a:highlight>
                  <a:srgbClr val="FFFF00"/>
                </a:highlight>
              </a:rPr>
              <a:t>知识库协作系统（</a:t>
            </a:r>
            <a:r>
              <a:rPr lang="en-US" altLang="zh-CN" dirty="0">
                <a:highlight>
                  <a:srgbClr val="FFFF00"/>
                </a:highlight>
              </a:rPr>
              <a:t>V2.0</a:t>
            </a:r>
            <a:r>
              <a:rPr lang="zh-CN" altLang="en-US" dirty="0">
                <a:highlight>
                  <a:srgbClr val="FFFF00"/>
                </a:highlight>
              </a:rPr>
              <a:t>）</a:t>
            </a:r>
            <a:endParaRPr lang="en-US" altLang="zh-CN" dirty="0">
              <a:highlight>
                <a:srgbClr val="FFFF00"/>
              </a:highlight>
            </a:endParaRPr>
          </a:p>
          <a:p>
            <a:pPr lvl="3"/>
            <a:r>
              <a:rPr lang="zh-CN" altLang="en-US" dirty="0">
                <a:highlight>
                  <a:srgbClr val="00FF00"/>
                </a:highlight>
              </a:rPr>
              <a:t>用户答题平台（</a:t>
            </a:r>
            <a:r>
              <a:rPr lang="en-US" altLang="zh-CN" dirty="0">
                <a:highlight>
                  <a:srgbClr val="00FF00"/>
                </a:highlight>
              </a:rPr>
              <a:t>V1.0-</a:t>
            </a:r>
            <a:r>
              <a:rPr lang="zh-CN" altLang="en-US" dirty="0">
                <a:highlight>
                  <a:srgbClr val="00FF00"/>
                </a:highlight>
              </a:rPr>
              <a:t>课程基线）√ </a:t>
            </a:r>
            <a:r>
              <a:rPr lang="en-US" altLang="zh-CN" dirty="0">
                <a:highlight>
                  <a:srgbClr val="00FF00"/>
                </a:highlight>
              </a:rPr>
              <a:t>2025.10.11</a:t>
            </a:r>
            <a:r>
              <a:rPr lang="zh-CN" altLang="en-US" dirty="0">
                <a:highlight>
                  <a:srgbClr val="00FF00"/>
                </a:highlight>
              </a:rPr>
              <a:t>已验收</a:t>
            </a:r>
            <a:endParaRPr lang="en-US" altLang="zh-CN" dirty="0">
              <a:highlight>
                <a:srgbClr val="00FF00"/>
              </a:highlight>
            </a:endParaRPr>
          </a:p>
          <a:p>
            <a:pPr lvl="3"/>
            <a:r>
              <a:rPr lang="zh-CN" altLang="en-US" dirty="0">
                <a:highlight>
                  <a:srgbClr val="C0C0C0"/>
                </a:highlight>
              </a:rPr>
              <a:t>日语游戏化练习平台（</a:t>
            </a:r>
            <a:r>
              <a:rPr lang="en-US" altLang="zh-CN" dirty="0">
                <a:highlight>
                  <a:srgbClr val="C0C0C0"/>
                </a:highlight>
              </a:rPr>
              <a:t>V1.0-</a:t>
            </a:r>
            <a:r>
              <a:rPr lang="zh-CN" altLang="en-US" dirty="0">
                <a:highlight>
                  <a:srgbClr val="C0C0C0"/>
                </a:highlight>
              </a:rPr>
              <a:t>暑期东语外包）√ 已上线</a:t>
            </a:r>
            <a:endParaRPr lang="en-US" altLang="zh-CN" dirty="0">
              <a:highlight>
                <a:srgbClr val="C0C0C0"/>
              </a:highlight>
            </a:endParaRPr>
          </a:p>
          <a:p>
            <a:pPr lvl="2"/>
            <a:r>
              <a:rPr lang="zh-CN" altLang="en-US" dirty="0"/>
              <a:t>语音克隆</a:t>
            </a:r>
            <a:r>
              <a:rPr lang="en-US" altLang="zh-CN" dirty="0"/>
              <a:t>-</a:t>
            </a:r>
            <a:r>
              <a:rPr lang="zh-CN" altLang="en-US" dirty="0"/>
              <a:t>合成系统</a:t>
            </a:r>
            <a:r>
              <a:rPr lang="en-US" altLang="zh-CN" dirty="0"/>
              <a:t>(V2.0+)</a:t>
            </a:r>
          </a:p>
          <a:p>
            <a:pPr lvl="2"/>
            <a:r>
              <a:rPr lang="zh-CN" altLang="en-US" dirty="0"/>
              <a:t>数字人合成</a:t>
            </a:r>
            <a:r>
              <a:rPr lang="en-US" altLang="zh-CN" dirty="0"/>
              <a:t>-</a:t>
            </a:r>
            <a:r>
              <a:rPr lang="zh-CN" altLang="en-US" dirty="0"/>
              <a:t>推流系统</a:t>
            </a:r>
            <a:r>
              <a:rPr lang="en-US" altLang="zh-CN" dirty="0"/>
              <a:t>(V2.0+)</a:t>
            </a:r>
          </a:p>
          <a:p>
            <a:pPr lvl="1"/>
            <a:r>
              <a:rPr lang="zh-CN" altLang="en-US" dirty="0"/>
              <a:t>数字人教师讲演系统（</a:t>
            </a:r>
            <a:r>
              <a:rPr lang="en-US" altLang="zh-CN" dirty="0"/>
              <a:t>V3.0+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可解释性课程知识视频合成系统（</a:t>
            </a:r>
            <a:r>
              <a:rPr lang="en-US" altLang="zh-CN" dirty="0"/>
              <a:t>V3.0+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881F70-DF2C-8CE6-FE8B-C2245E65A2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602" y="1027906"/>
            <a:ext cx="3888000" cy="526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9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A925ED1-2903-52E4-711B-1F07C5191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02" y="572756"/>
            <a:ext cx="6037227" cy="5184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3DEFB30-AEDB-4552-4D6A-0317C013E158}"/>
              </a:ext>
            </a:extLst>
          </p:cNvPr>
          <p:cNvSpPr txBox="1"/>
          <p:nvPr/>
        </p:nvSpPr>
        <p:spPr>
          <a:xfrm>
            <a:off x="7092445" y="572756"/>
            <a:ext cx="3999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配置智能体元信息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FCB559-4037-A218-70D2-6C2073551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445" y="1363170"/>
            <a:ext cx="4154452" cy="439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9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A5E2845-2007-7071-3724-BBD5263CE4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39" y="347652"/>
            <a:ext cx="11404321" cy="388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5B34185-25C2-487A-B0BE-10D02DF90BC7}"/>
              </a:ext>
            </a:extLst>
          </p:cNvPr>
          <p:cNvSpPr txBox="1"/>
          <p:nvPr/>
        </p:nvSpPr>
        <p:spPr>
          <a:xfrm>
            <a:off x="718457" y="4235652"/>
            <a:ext cx="96614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Agent </a:t>
            </a:r>
            <a:r>
              <a:rPr lang="zh-CN" altLang="en-US" sz="2400" dirty="0"/>
              <a:t>智能体：统筹全局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LLM </a:t>
            </a:r>
            <a:r>
              <a:rPr lang="zh-CN" altLang="en-US" sz="2400" dirty="0"/>
              <a:t>大模型：承上启下、智能体的基础能力</a:t>
            </a:r>
            <a:r>
              <a:rPr lang="en-US" altLang="zh-CN" sz="2400" dirty="0"/>
              <a:t>-</a:t>
            </a:r>
            <a:r>
              <a:rPr lang="zh-CN" altLang="en-US" sz="2400" dirty="0"/>
              <a:t>连接</a:t>
            </a:r>
            <a:endParaRPr lang="en-US" altLang="zh-CN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Memory </a:t>
            </a:r>
            <a:r>
              <a:rPr lang="zh-CN" altLang="en-US" sz="2400" dirty="0"/>
              <a:t>记忆：数据库</a:t>
            </a:r>
            <a:endParaRPr lang="en-US" altLang="zh-CN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Tool </a:t>
            </a:r>
            <a:r>
              <a:rPr lang="zh-CN" altLang="en-US" sz="2400" dirty="0"/>
              <a:t>工具：增广</a:t>
            </a:r>
            <a:endParaRPr lang="en-US" altLang="zh-CN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Knowledge </a:t>
            </a:r>
            <a:r>
              <a:rPr lang="zh-CN" altLang="en-US" sz="2400" dirty="0"/>
              <a:t>知识：本地</a:t>
            </a:r>
            <a:r>
              <a:rPr lang="en-US" altLang="zh-CN" sz="2400" dirty="0"/>
              <a:t>RAG-</a:t>
            </a:r>
            <a:r>
              <a:rPr lang="zh-CN" altLang="en-US" sz="2400" dirty="0"/>
              <a:t>知识增广（</a:t>
            </a:r>
            <a:r>
              <a:rPr lang="en-US" altLang="zh-CN" sz="2400" dirty="0"/>
              <a:t>FT</a:t>
            </a:r>
            <a:r>
              <a:rPr lang="zh-CN" altLang="en-US" sz="2400" dirty="0"/>
              <a:t>）数据库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8765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EC74DD-BD99-65C8-FC5A-B41AC6E9785E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以一次实际的运行过程为例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08F24A-3E69-688F-D9B0-C7FB41C20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3" y="1348219"/>
            <a:ext cx="9720000" cy="35371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2556C3F-77F9-79B3-2904-9D090F18EF8F}"/>
              </a:ext>
            </a:extLst>
          </p:cNvPr>
          <p:cNvSpPr txBox="1"/>
          <p:nvPr/>
        </p:nvSpPr>
        <p:spPr>
          <a:xfrm>
            <a:off x="447153" y="97888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智能体初始化、预调度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EC1D4A-3ABD-AA97-0A4F-943F2EA46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3" y="2071263"/>
            <a:ext cx="9720000" cy="9436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987D26-43E8-254D-4ED2-6B63AE36E7E1}"/>
              </a:ext>
            </a:extLst>
          </p:cNvPr>
          <p:cNvSpPr txBox="1"/>
          <p:nvPr/>
        </p:nvSpPr>
        <p:spPr>
          <a:xfrm>
            <a:off x="447153" y="1701931"/>
            <a:ext cx="209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用户问题 </a:t>
            </a:r>
            <a:r>
              <a:rPr lang="en-US" altLang="zh-CN" dirty="0"/>
              <a:t>-&gt; </a:t>
            </a:r>
            <a:r>
              <a:rPr lang="zh-CN" altLang="en-US" dirty="0"/>
              <a:t>智能体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A994559-056A-7881-8992-3739F9A9C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53" y="3384245"/>
            <a:ext cx="5184000" cy="192558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F22C35F-3B36-C90A-C01D-EEBCD7C39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522" y="3384245"/>
            <a:ext cx="3109512" cy="1926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BB7B583-2504-2242-EECC-A7B4FE1B5034}"/>
              </a:ext>
            </a:extLst>
          </p:cNvPr>
          <p:cNvSpPr txBox="1"/>
          <p:nvPr/>
        </p:nvSpPr>
        <p:spPr>
          <a:xfrm>
            <a:off x="447153" y="3014913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智能体 </a:t>
            </a:r>
            <a:r>
              <a:rPr lang="en-US" altLang="zh-CN" dirty="0"/>
              <a:t>-&gt; </a:t>
            </a:r>
            <a:r>
              <a:rPr lang="zh-CN" altLang="en-US" dirty="0"/>
              <a:t>工具调用（夸克搜索）</a:t>
            </a:r>
          </a:p>
        </p:txBody>
      </p:sp>
    </p:spTree>
    <p:extLst>
      <p:ext uri="{BB962C8B-B14F-4D97-AF65-F5344CB8AC3E}">
        <p14:creationId xmlns:p14="http://schemas.microsoft.com/office/powerpoint/2010/main" val="78068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064C-CE0B-9CF3-431A-90B93EC9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00FDCFB-A9F1-42F5-9C1B-EE1F91197FAA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以一次实际的运行过程为例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0B56E4-9E67-A842-E7D5-8DDEDF3DF347}"/>
              </a:ext>
            </a:extLst>
          </p:cNvPr>
          <p:cNvSpPr txBox="1"/>
          <p:nvPr/>
        </p:nvSpPr>
        <p:spPr>
          <a:xfrm>
            <a:off x="447153" y="978887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工具调用（夸克搜索） </a:t>
            </a:r>
            <a:r>
              <a:rPr lang="en-US" altLang="zh-CN" dirty="0"/>
              <a:t>-&gt; </a:t>
            </a:r>
            <a:r>
              <a:rPr lang="zh-CN" altLang="en-US" dirty="0"/>
              <a:t>智能体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8921EB-BD28-BCC4-41DF-40FD8578A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3" y="1348219"/>
            <a:ext cx="10047654" cy="28394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AB5B69-05F9-B28E-75AB-E860308DA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076" y="4187633"/>
            <a:ext cx="4530731" cy="18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B50602D-0AC7-C0B5-7931-17D02B606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53" y="4187633"/>
            <a:ext cx="5516923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7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362B-DCFC-17FC-734B-3B4AB122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3D23878-D845-F53E-6772-F3220A3DFEBB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以一次实际的运行过程为例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A4C016-8092-E60F-2B2E-868E1E64EC4C}"/>
              </a:ext>
            </a:extLst>
          </p:cNvPr>
          <p:cNvSpPr txBox="1"/>
          <p:nvPr/>
        </p:nvSpPr>
        <p:spPr>
          <a:xfrm>
            <a:off x="447153" y="978887"/>
            <a:ext cx="522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智能体 </a:t>
            </a:r>
            <a:r>
              <a:rPr lang="en-US" altLang="zh-CN" dirty="0"/>
              <a:t>-&gt; RAG</a:t>
            </a:r>
            <a:r>
              <a:rPr lang="zh-CN" altLang="en-US" dirty="0"/>
              <a:t>知识库（本地向量数据库</a:t>
            </a:r>
            <a:r>
              <a:rPr lang="en-US" altLang="zh-CN" dirty="0"/>
              <a:t>/</a:t>
            </a:r>
            <a:r>
              <a:rPr lang="zh-CN" altLang="en-US" dirty="0"/>
              <a:t>类搜索）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5AF508-1E1E-6E7B-FBAE-4DD3E91FE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3" y="1350731"/>
            <a:ext cx="9720000" cy="6306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1D6BA7-9D3C-5352-78F0-2F4BF2360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3" y="2839292"/>
            <a:ext cx="5112000" cy="26679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60AC473-5EEC-5AC8-2C01-C08C60DC3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153" y="1981372"/>
            <a:ext cx="4608000" cy="16060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93EC293-9010-26FB-C637-D4C2AF2CD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153" y="3533927"/>
            <a:ext cx="4608000" cy="19733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6552A75-BD8E-D7B5-8B91-070378183558}"/>
              </a:ext>
            </a:extLst>
          </p:cNvPr>
          <p:cNvSpPr txBox="1"/>
          <p:nvPr/>
        </p:nvSpPr>
        <p:spPr>
          <a:xfrm>
            <a:off x="447153" y="2242681"/>
            <a:ext cx="357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RAG</a:t>
            </a:r>
            <a:r>
              <a:rPr lang="zh-CN" altLang="en-US" dirty="0"/>
              <a:t>知识库 </a:t>
            </a:r>
            <a:r>
              <a:rPr lang="en-US" altLang="zh-CN" dirty="0"/>
              <a:t>*</a:t>
            </a:r>
            <a:r>
              <a:rPr lang="zh-CN" altLang="en-US" dirty="0"/>
              <a:t>（已预先构建完成） </a:t>
            </a:r>
          </a:p>
        </p:txBody>
      </p:sp>
    </p:spTree>
    <p:extLst>
      <p:ext uri="{BB962C8B-B14F-4D97-AF65-F5344CB8AC3E}">
        <p14:creationId xmlns:p14="http://schemas.microsoft.com/office/powerpoint/2010/main" val="39433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CD45-E3C9-2AB8-501C-50344889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2016D77-D593-2D89-482D-1A8AB96CABD9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以一次实际的运行过程为例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AD1096-7F55-8E15-3C18-FBB3969255F5}"/>
              </a:ext>
            </a:extLst>
          </p:cNvPr>
          <p:cNvSpPr txBox="1"/>
          <p:nvPr/>
        </p:nvSpPr>
        <p:spPr>
          <a:xfrm>
            <a:off x="447153" y="978887"/>
            <a:ext cx="2316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RAG</a:t>
            </a:r>
            <a:r>
              <a:rPr lang="zh-CN" altLang="en-US" dirty="0"/>
              <a:t>知识库 </a:t>
            </a:r>
            <a:r>
              <a:rPr lang="en-US" altLang="zh-CN" dirty="0"/>
              <a:t>-&gt; </a:t>
            </a:r>
            <a:r>
              <a:rPr lang="zh-CN" altLang="en-US" dirty="0"/>
              <a:t>智能体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32B6724-3B40-7CB0-5086-7ED5378A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3" y="3612114"/>
            <a:ext cx="5254902" cy="277863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AE8A46-83FA-C3F5-93E3-3026606F6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3" y="1348219"/>
            <a:ext cx="9720000" cy="2968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613C21-5C68-0EF5-A117-1414B7FA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055" y="2050029"/>
            <a:ext cx="4465098" cy="434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09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6C25-9B41-8303-8F3C-6E9DA3D7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13EC6B-4275-483B-E32C-01F90A462763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以一次实际的运行过程为例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6192FC-333E-93F8-73BF-23BB4F152602}"/>
              </a:ext>
            </a:extLst>
          </p:cNvPr>
          <p:cNvSpPr txBox="1"/>
          <p:nvPr/>
        </p:nvSpPr>
        <p:spPr>
          <a:xfrm>
            <a:off x="447153" y="978887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智能体 </a:t>
            </a:r>
            <a:r>
              <a:rPr lang="en-US" altLang="zh-CN" dirty="0"/>
              <a:t>-&gt; </a:t>
            </a:r>
            <a:r>
              <a:rPr lang="zh-CN" altLang="en-US" dirty="0"/>
              <a:t>大模型</a:t>
            </a:r>
            <a:r>
              <a:rPr lang="en-US" altLang="zh-CN" dirty="0"/>
              <a:t>LLM</a:t>
            </a:r>
            <a:r>
              <a:rPr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43DC12-9A12-43D2-001F-1D7FF07FD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3" y="1348219"/>
            <a:ext cx="9720000" cy="32522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CE5036-1850-4719-07C2-2CD37D6BD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3" y="3997808"/>
            <a:ext cx="972000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5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8F0E-EAA4-F444-C508-A8C868F8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87959AF-0960-4B4A-A4D3-703EC05E0F86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以一次实际的运行过程为例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8ECA48-0447-602E-49FD-9A1D1D2DDE0C}"/>
              </a:ext>
            </a:extLst>
          </p:cNvPr>
          <p:cNvSpPr txBox="1"/>
          <p:nvPr/>
        </p:nvSpPr>
        <p:spPr>
          <a:xfrm>
            <a:off x="447153" y="978887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大模型</a:t>
            </a:r>
            <a:r>
              <a:rPr lang="en-US" altLang="zh-CN" dirty="0"/>
              <a:t>LLM</a:t>
            </a:r>
            <a:r>
              <a:rPr lang="zh-CN" altLang="en-US" dirty="0"/>
              <a:t> </a:t>
            </a:r>
            <a:r>
              <a:rPr lang="en-US" altLang="zh-CN" dirty="0"/>
              <a:t>-&gt; </a:t>
            </a:r>
            <a:r>
              <a:rPr lang="zh-CN" altLang="en-US" dirty="0"/>
              <a:t>结果归纳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FACC37-E7A4-4A9A-A70B-B6809441A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3" y="1348219"/>
            <a:ext cx="9720000" cy="36684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FACC661-A320-0E8A-DCD9-4A2C2CB98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584" y="4000006"/>
            <a:ext cx="3888000" cy="203335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4D9F89C-7026-6A31-7C37-D247C7EC98A9}"/>
              </a:ext>
            </a:extLst>
          </p:cNvPr>
          <p:cNvSpPr/>
          <p:nvPr/>
        </p:nvSpPr>
        <p:spPr>
          <a:xfrm>
            <a:off x="319035" y="3004457"/>
            <a:ext cx="10045840" cy="7887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0D3CC4-EA3D-258C-508B-8F04334FC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584" y="4000006"/>
            <a:ext cx="3888000" cy="213073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32480CC-6CCA-5D00-BEEC-236A348144FA}"/>
              </a:ext>
            </a:extLst>
          </p:cNvPr>
          <p:cNvSpPr/>
          <p:nvPr/>
        </p:nvSpPr>
        <p:spPr>
          <a:xfrm>
            <a:off x="3134248" y="5014213"/>
            <a:ext cx="3713703" cy="1030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8248E5-F20A-83B9-9926-6B08ECFBA8F6}"/>
              </a:ext>
            </a:extLst>
          </p:cNvPr>
          <p:cNvSpPr/>
          <p:nvPr/>
        </p:nvSpPr>
        <p:spPr>
          <a:xfrm>
            <a:off x="7147180" y="4690132"/>
            <a:ext cx="2079223" cy="3240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16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箱线图&#10;&#10;AI 生成的内容可能不正确。">
            <a:extLst>
              <a:ext uri="{FF2B5EF4-FFF2-40B4-BE49-F238E27FC236}">
                <a16:creationId xmlns:a16="http://schemas.microsoft.com/office/drawing/2014/main" id="{4FF3EA28-DE49-8E24-C0B4-CB85CF01D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53" y="1348219"/>
            <a:ext cx="7200000" cy="26795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2582C6-16AC-82F9-81C3-85287815D059}"/>
              </a:ext>
            </a:extLst>
          </p:cNvPr>
          <p:cNvSpPr txBox="1"/>
          <p:nvPr/>
        </p:nvSpPr>
        <p:spPr>
          <a:xfrm>
            <a:off x="319035" y="310216"/>
            <a:ext cx="616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拓展性探索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804DB8-4D28-7D68-DF21-960539E0B396}"/>
              </a:ext>
            </a:extLst>
          </p:cNvPr>
          <p:cNvSpPr txBox="1"/>
          <p:nvPr/>
        </p:nvSpPr>
        <p:spPr>
          <a:xfrm>
            <a:off x="447153" y="97888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语言翻译框架：反思工作流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A9E7EA-A5F5-E38C-FEA9-44DB01F2631F}"/>
              </a:ext>
            </a:extLst>
          </p:cNvPr>
          <p:cNvSpPr txBox="1"/>
          <p:nvPr/>
        </p:nvSpPr>
        <p:spPr>
          <a:xfrm>
            <a:off x="447153" y="4027737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复杂任务分解</a:t>
            </a:r>
            <a:r>
              <a:rPr lang="en-US" altLang="zh-CN" dirty="0"/>
              <a:t>-</a:t>
            </a:r>
            <a:r>
              <a:rPr lang="zh-CN" altLang="en-US" dirty="0"/>
              <a:t>执行框架：计划（</a:t>
            </a:r>
            <a:r>
              <a:rPr lang="en-US" altLang="zh-CN" dirty="0"/>
              <a:t>Planner</a:t>
            </a:r>
            <a:r>
              <a:rPr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AEEB90-19A9-F7A2-1A2E-407B06B83984}"/>
              </a:ext>
            </a:extLst>
          </p:cNvPr>
          <p:cNvSpPr txBox="1"/>
          <p:nvPr/>
        </p:nvSpPr>
        <p:spPr>
          <a:xfrm>
            <a:off x="447152" y="4397069"/>
            <a:ext cx="89329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Planner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影响实际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Agent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工作时的协作与执行策略，</a:t>
            </a:r>
            <a:endParaRPr lang="en-US" altLang="zh-CN" b="0" i="0" dirty="0">
              <a:solidFill>
                <a:schemeClr val="bg2">
                  <a:lumMod val="75000"/>
                </a:schemeClr>
              </a:solidFill>
              <a:effectLst/>
              <a:highlight>
                <a:srgbClr val="000000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我们在介绍时曾说明</a:t>
            </a:r>
            <a:r>
              <a:rPr lang="en-US" altLang="zh-CN" b="0" i="0" dirty="0" err="1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agentUniverse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可以视为一个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Pattern Factory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，</a:t>
            </a:r>
            <a:endParaRPr lang="en-US" altLang="zh-CN" b="0" i="0" dirty="0">
              <a:solidFill>
                <a:schemeClr val="bg2">
                  <a:lumMod val="75000"/>
                </a:schemeClr>
              </a:solidFill>
              <a:effectLst/>
              <a:highlight>
                <a:srgbClr val="000000"/>
              </a:highlight>
              <a:latin typeface="-apple-system"/>
            </a:endParaRPr>
          </a:p>
          <a:p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Planners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是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pattern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的协作与执行思想的实际载体。包含多种类型，</a:t>
            </a:r>
            <a:endParaRPr lang="en-US" altLang="zh-CN" b="0" i="0" dirty="0">
              <a:solidFill>
                <a:schemeClr val="bg2">
                  <a:lumMod val="75000"/>
                </a:schemeClr>
              </a:solidFill>
              <a:effectLst/>
              <a:highlight>
                <a:srgbClr val="000000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例如让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Agent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遵从完全由人工编排的工作流程、</a:t>
            </a:r>
            <a:endParaRPr lang="en-US" altLang="zh-CN" b="0" i="0" dirty="0">
              <a:solidFill>
                <a:schemeClr val="bg2">
                  <a:lumMod val="75000"/>
                </a:schemeClr>
              </a:solidFill>
              <a:effectLst/>
              <a:highlight>
                <a:srgbClr val="000000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遵从某一个标准作业流程（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SOP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）、</a:t>
            </a:r>
            <a:endParaRPr lang="en-US" altLang="zh-CN" b="0" i="0" dirty="0">
              <a:solidFill>
                <a:schemeClr val="bg2">
                  <a:lumMod val="75000"/>
                </a:schemeClr>
              </a:solidFill>
              <a:effectLst/>
              <a:highlight>
                <a:srgbClr val="000000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或使用某些特定模式的工作方式如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PEER/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检索增强模式（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RAG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）、</a:t>
            </a:r>
            <a:endParaRPr lang="en-US" altLang="zh-CN" b="0" i="0" dirty="0">
              <a:solidFill>
                <a:schemeClr val="bg2">
                  <a:lumMod val="75000"/>
                </a:schemeClr>
              </a:solidFill>
              <a:effectLst/>
              <a:highlight>
                <a:srgbClr val="000000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或让智能体完全自主工作</a:t>
            </a:r>
            <a:r>
              <a:rPr lang="en-US" altLang="zh-CN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(Auto)</a:t>
            </a:r>
            <a:r>
              <a:rPr lang="zh-CN" altLang="en-US" b="0" i="0" dirty="0">
                <a:solidFill>
                  <a:schemeClr val="bg2">
                    <a:lumMod val="75000"/>
                  </a:schemeClr>
                </a:solidFill>
                <a:effectLst/>
                <a:highlight>
                  <a:srgbClr val="000000"/>
                </a:highlight>
                <a:latin typeface="-apple-system"/>
              </a:rPr>
              <a:t>。</a:t>
            </a:r>
            <a:endParaRPr lang="zh-CN" altLang="en-US" dirty="0">
              <a:solidFill>
                <a:schemeClr val="bg2">
                  <a:lumMod val="7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BBAD69-3736-723B-7433-1D17A67AE87A}"/>
              </a:ext>
            </a:extLst>
          </p:cNvPr>
          <p:cNvSpPr txBox="1"/>
          <p:nvPr/>
        </p:nvSpPr>
        <p:spPr>
          <a:xfrm>
            <a:off x="7647153" y="4027737"/>
            <a:ext cx="311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讨论组框架：主持人</a:t>
            </a:r>
            <a:r>
              <a:rPr lang="en-US" altLang="zh-CN" dirty="0"/>
              <a:t>&amp;</a:t>
            </a:r>
            <a:r>
              <a:rPr lang="zh-CN" altLang="en-US" dirty="0"/>
              <a:t>参与者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1EFB3F-B57D-51FF-B42A-FB73CF7163BA}"/>
              </a:ext>
            </a:extLst>
          </p:cNvPr>
          <p:cNvSpPr txBox="1"/>
          <p:nvPr/>
        </p:nvSpPr>
        <p:spPr>
          <a:xfrm>
            <a:off x="7647153" y="4397069"/>
            <a:ext cx="60156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通过主持人和讨论者的设计，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将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Agent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设定为具有一定先验知识，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但可能具有不同立场的“讨论者”；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“主持人”扮演教师角色；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通过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Agent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之间的协作，模拟真实课堂。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==============================</a:t>
            </a: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适用于辩论赛、股票涨跌分析等场合。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9EFF83-1421-EC65-575D-0F1AB45DC799}"/>
              </a:ext>
            </a:extLst>
          </p:cNvPr>
          <p:cNvSpPr txBox="1"/>
          <p:nvPr/>
        </p:nvSpPr>
        <p:spPr>
          <a:xfrm>
            <a:off x="7948603" y="2042578"/>
            <a:ext cx="34160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通过不断的翻译与修改优化，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实现大模型的迭代“反思”，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模拟“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GAN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”的对抗学习方式，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实现自适应与自优化。</a:t>
            </a:r>
          </a:p>
        </p:txBody>
      </p:sp>
    </p:spTree>
    <p:extLst>
      <p:ext uri="{BB962C8B-B14F-4D97-AF65-F5344CB8AC3E}">
        <p14:creationId xmlns:p14="http://schemas.microsoft.com/office/powerpoint/2010/main" val="368539858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496</Words>
  <Application>Microsoft Office PowerPoint</Application>
  <PresentationFormat>宽屏</PresentationFormat>
  <Paragraphs>57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-apple-system</vt:lpstr>
      <vt:lpstr>Arial</vt:lpstr>
      <vt:lpstr>Calibri</vt:lpstr>
      <vt:lpstr>WPS</vt:lpstr>
      <vt:lpstr>AI智能·学习搭子</vt:lpstr>
      <vt:lpstr>项目研发架构&amp;层次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丁炜宸</dc:creator>
  <cp:lastModifiedBy>Dingdust</cp:lastModifiedBy>
  <cp:revision>41</cp:revision>
  <dcterms:created xsi:type="dcterms:W3CDTF">2023-08-09T12:44:00Z</dcterms:created>
  <dcterms:modified xsi:type="dcterms:W3CDTF">2025-10-22T08:21:14Z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