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51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72352-8B56-AE8E-44AD-F22C95DB6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智能</a:t>
            </a:r>
            <a:r>
              <a:rPr lang="en-US" altLang="zh-CN" dirty="0"/>
              <a:t>·</a:t>
            </a:r>
            <a:r>
              <a:rPr lang="zh-CN" altLang="en-US" dirty="0"/>
              <a:t>学习搭子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370A3C-C87E-8FC1-67A2-9F07BD73E5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V2.0 </a:t>
            </a:r>
            <a:r>
              <a:rPr lang="zh-CN" altLang="en-US" sz="3200" dirty="0"/>
              <a:t>企划与探索</a:t>
            </a:r>
          </a:p>
        </p:txBody>
      </p:sp>
    </p:spTree>
    <p:extLst>
      <p:ext uri="{BB962C8B-B14F-4D97-AF65-F5344CB8AC3E}">
        <p14:creationId xmlns:p14="http://schemas.microsoft.com/office/powerpoint/2010/main" val="112649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B50615-9A02-020E-DDD3-570AF15A7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项目研发架构</a:t>
            </a:r>
            <a:r>
              <a:rPr lang="en-US" altLang="zh-CN" dirty="0"/>
              <a:t>&amp;</a:t>
            </a:r>
            <a:r>
              <a:rPr lang="zh-CN" altLang="en-US" dirty="0"/>
              <a:t>层次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3262B-0508-FF3E-4BD6-D7A8B7F49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数字人智能课堂（</a:t>
            </a:r>
            <a:r>
              <a:rPr lang="en-US" altLang="zh-CN" dirty="0"/>
              <a:t>V4.0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课堂</a:t>
            </a:r>
            <a:r>
              <a:rPr lang="en-US" altLang="zh-CN" dirty="0"/>
              <a:t>PPT</a:t>
            </a:r>
            <a:r>
              <a:rPr lang="zh-CN" altLang="en-US" dirty="0"/>
              <a:t>、</a:t>
            </a:r>
            <a:r>
              <a:rPr lang="en-US" altLang="zh-CN" dirty="0"/>
              <a:t>Word</a:t>
            </a:r>
            <a:r>
              <a:rPr lang="zh-CN" altLang="en-US" dirty="0"/>
              <a:t>文档生成系统（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数字人伴学系统（</a:t>
            </a:r>
            <a:r>
              <a:rPr lang="en-US" altLang="zh-CN" dirty="0"/>
              <a:t>V3.0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语音</a:t>
            </a:r>
            <a:r>
              <a:rPr lang="en-US" altLang="zh-CN" dirty="0"/>
              <a:t>-</a:t>
            </a:r>
            <a:r>
              <a:rPr lang="zh-CN" altLang="en-US" dirty="0"/>
              <a:t>情感识别系统（</a:t>
            </a:r>
            <a:r>
              <a:rPr lang="en-US" altLang="zh-CN" dirty="0"/>
              <a:t>V2.0+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>
                <a:highlight>
                  <a:srgbClr val="FFFF00"/>
                </a:highlight>
              </a:rPr>
              <a:t>多智能体</a:t>
            </a:r>
            <a:r>
              <a:rPr lang="en-US" altLang="zh-CN" dirty="0">
                <a:highlight>
                  <a:srgbClr val="FFFF00"/>
                </a:highlight>
              </a:rPr>
              <a:t>-</a:t>
            </a:r>
            <a:r>
              <a:rPr lang="zh-CN" altLang="en-US" dirty="0">
                <a:highlight>
                  <a:srgbClr val="FFFF00"/>
                </a:highlight>
              </a:rPr>
              <a:t>知识库协作系统（</a:t>
            </a:r>
            <a:r>
              <a:rPr lang="en-US" altLang="zh-CN" dirty="0">
                <a:highlight>
                  <a:srgbClr val="FFFF00"/>
                </a:highlight>
              </a:rPr>
              <a:t>V2.0</a:t>
            </a:r>
            <a:r>
              <a:rPr lang="zh-CN" altLang="en-US" dirty="0">
                <a:highlight>
                  <a:srgbClr val="FFFF00"/>
                </a:highlight>
              </a:rPr>
              <a:t>）</a:t>
            </a:r>
            <a:endParaRPr lang="en-US" altLang="zh-CN" dirty="0">
              <a:highlight>
                <a:srgbClr val="FFFF00"/>
              </a:highlight>
            </a:endParaRPr>
          </a:p>
          <a:p>
            <a:pPr lvl="3"/>
            <a:r>
              <a:rPr lang="zh-CN" altLang="en-US" dirty="0">
                <a:highlight>
                  <a:srgbClr val="00FF00"/>
                </a:highlight>
              </a:rPr>
              <a:t>用户答题平台（</a:t>
            </a:r>
            <a:r>
              <a:rPr lang="en-US" altLang="zh-CN" dirty="0">
                <a:highlight>
                  <a:srgbClr val="00FF00"/>
                </a:highlight>
              </a:rPr>
              <a:t>V1.0-</a:t>
            </a:r>
            <a:r>
              <a:rPr lang="zh-CN" altLang="en-US" dirty="0">
                <a:highlight>
                  <a:srgbClr val="00FF00"/>
                </a:highlight>
              </a:rPr>
              <a:t>课程基线）√ </a:t>
            </a:r>
            <a:r>
              <a:rPr lang="en-US" altLang="zh-CN" dirty="0">
                <a:highlight>
                  <a:srgbClr val="00FF00"/>
                </a:highlight>
              </a:rPr>
              <a:t>2025.10.11</a:t>
            </a:r>
            <a:r>
              <a:rPr lang="zh-CN" altLang="en-US" dirty="0">
                <a:highlight>
                  <a:srgbClr val="00FF00"/>
                </a:highlight>
              </a:rPr>
              <a:t>已验收</a:t>
            </a:r>
            <a:endParaRPr lang="en-US" altLang="zh-CN" dirty="0">
              <a:highlight>
                <a:srgbClr val="00FF00"/>
              </a:highlight>
            </a:endParaRPr>
          </a:p>
          <a:p>
            <a:pPr lvl="3"/>
            <a:r>
              <a:rPr lang="zh-CN" altLang="en-US" dirty="0">
                <a:highlight>
                  <a:srgbClr val="C0C0C0"/>
                </a:highlight>
              </a:rPr>
              <a:t>日语游戏化练习平台（</a:t>
            </a:r>
            <a:r>
              <a:rPr lang="en-US" altLang="zh-CN" dirty="0">
                <a:highlight>
                  <a:srgbClr val="C0C0C0"/>
                </a:highlight>
              </a:rPr>
              <a:t>V1.0-</a:t>
            </a:r>
            <a:r>
              <a:rPr lang="zh-CN" altLang="en-US" dirty="0">
                <a:highlight>
                  <a:srgbClr val="C0C0C0"/>
                </a:highlight>
              </a:rPr>
              <a:t>暑期东语外包）√ 已上线</a:t>
            </a:r>
            <a:endParaRPr lang="en-US" altLang="zh-CN" dirty="0">
              <a:highlight>
                <a:srgbClr val="C0C0C0"/>
              </a:highlight>
            </a:endParaRPr>
          </a:p>
          <a:p>
            <a:pPr lvl="2"/>
            <a:r>
              <a:rPr lang="zh-CN" altLang="en-US" dirty="0"/>
              <a:t>语音克隆</a:t>
            </a:r>
            <a:r>
              <a:rPr lang="en-US" altLang="zh-CN" dirty="0"/>
              <a:t>-</a:t>
            </a:r>
            <a:r>
              <a:rPr lang="zh-CN" altLang="en-US" dirty="0"/>
              <a:t>合成系统</a:t>
            </a:r>
            <a:r>
              <a:rPr lang="en-US" altLang="zh-CN" dirty="0"/>
              <a:t>(V2.0+)</a:t>
            </a:r>
          </a:p>
          <a:p>
            <a:pPr lvl="2"/>
            <a:r>
              <a:rPr lang="zh-CN" altLang="en-US" dirty="0"/>
              <a:t>数字人合成</a:t>
            </a:r>
            <a:r>
              <a:rPr lang="en-US" altLang="zh-CN" dirty="0"/>
              <a:t>-</a:t>
            </a:r>
            <a:r>
              <a:rPr lang="zh-CN" altLang="en-US" dirty="0"/>
              <a:t>推流系统</a:t>
            </a:r>
            <a:r>
              <a:rPr lang="en-US" altLang="zh-CN" dirty="0"/>
              <a:t>(V2.0+)</a:t>
            </a:r>
          </a:p>
          <a:p>
            <a:pPr lvl="1"/>
            <a:r>
              <a:rPr lang="zh-CN" altLang="en-US" dirty="0"/>
              <a:t>数字人教师讲演系统（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可解释性课程知识视频合成系统（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pPr marL="914400" lvl="2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6881F70-DF2C-8CE6-FE8B-C2245E65A2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602" y="1027906"/>
            <a:ext cx="3888000" cy="52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793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FA925ED1-2903-52E4-711B-1F07C5191B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02" y="572756"/>
            <a:ext cx="6037227" cy="5184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3DEFB30-AEDB-4552-4D6A-0317C013E158}"/>
              </a:ext>
            </a:extLst>
          </p:cNvPr>
          <p:cNvSpPr txBox="1"/>
          <p:nvPr/>
        </p:nvSpPr>
        <p:spPr>
          <a:xfrm>
            <a:off x="7092445" y="572756"/>
            <a:ext cx="3999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1.</a:t>
            </a:r>
            <a:r>
              <a:rPr lang="zh-CN" altLang="en-US" sz="2400" dirty="0"/>
              <a:t>配置智能体元信息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FCB559-4037-A218-70D2-6C2073551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45" y="1363170"/>
            <a:ext cx="4154452" cy="439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92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表&#10;&#10;AI 生成的内容可能不正确。">
            <a:extLst>
              <a:ext uri="{FF2B5EF4-FFF2-40B4-BE49-F238E27FC236}">
                <a16:creationId xmlns:a16="http://schemas.microsoft.com/office/drawing/2014/main" id="{2A5E2845-2007-7071-3724-BBD5263CE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39" y="347652"/>
            <a:ext cx="11404321" cy="388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5B34185-25C2-487A-B0BE-10D02DF90BC7}"/>
              </a:ext>
            </a:extLst>
          </p:cNvPr>
          <p:cNvSpPr txBox="1"/>
          <p:nvPr/>
        </p:nvSpPr>
        <p:spPr>
          <a:xfrm>
            <a:off x="718457" y="4235652"/>
            <a:ext cx="966149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Agent </a:t>
            </a:r>
            <a:r>
              <a:rPr lang="zh-CN" altLang="en-US" sz="2400" dirty="0"/>
              <a:t>智能体：统筹全局</a:t>
            </a:r>
            <a:endParaRPr lang="en-US" altLang="zh-CN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LLM </a:t>
            </a:r>
            <a:r>
              <a:rPr lang="zh-CN" altLang="en-US" sz="2400" dirty="0"/>
              <a:t>大模型：承上启下、智能体的基础能力</a:t>
            </a:r>
            <a:r>
              <a:rPr lang="en-US" altLang="zh-CN" sz="2400" dirty="0"/>
              <a:t>-</a:t>
            </a:r>
            <a:r>
              <a:rPr lang="zh-CN" altLang="en-US" sz="2400" dirty="0"/>
              <a:t>连接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Memory </a:t>
            </a:r>
            <a:r>
              <a:rPr lang="zh-CN" altLang="en-US" sz="2400" dirty="0"/>
              <a:t>记忆：数据库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Tool </a:t>
            </a:r>
            <a:r>
              <a:rPr lang="zh-CN" altLang="en-US" sz="2400" dirty="0"/>
              <a:t>工具：增广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Knowledge </a:t>
            </a:r>
            <a:r>
              <a:rPr lang="zh-CN" altLang="en-US" sz="2400" dirty="0"/>
              <a:t>知识：本地</a:t>
            </a:r>
            <a:r>
              <a:rPr lang="en-US" altLang="zh-CN" sz="2400" dirty="0"/>
              <a:t>RAG-</a:t>
            </a:r>
            <a:r>
              <a:rPr lang="zh-CN" altLang="en-US" sz="2400" dirty="0"/>
              <a:t>知识增广（</a:t>
            </a:r>
            <a:r>
              <a:rPr lang="en-US" altLang="zh-CN" sz="2400" dirty="0"/>
              <a:t>FT</a:t>
            </a:r>
            <a:r>
              <a:rPr lang="zh-CN" altLang="en-US" sz="2400" dirty="0"/>
              <a:t>）数据库</a:t>
            </a:r>
            <a:r>
              <a:rPr lang="en-US" altLang="zh-CN" sz="2400" dirty="0"/>
              <a:t>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8765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AEC74DD-BD99-65C8-FC5A-B41AC6E9785E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</p:spTree>
    <p:extLst>
      <p:ext uri="{BB962C8B-B14F-4D97-AF65-F5344CB8AC3E}">
        <p14:creationId xmlns:p14="http://schemas.microsoft.com/office/powerpoint/2010/main" val="78068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示&#10;&#10;AI 生成的内容可能不正确。">
            <a:extLst>
              <a:ext uri="{FF2B5EF4-FFF2-40B4-BE49-F238E27FC236}">
                <a16:creationId xmlns:a16="http://schemas.microsoft.com/office/drawing/2014/main" id="{03AB0E27-C161-9AEA-7543-CF9EBCD5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" y="0"/>
            <a:ext cx="121904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876016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180</Words>
  <Application>Microsoft Office PowerPoint</Application>
  <PresentationFormat>宽屏</PresentationFormat>
  <Paragraphs>21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Arial</vt:lpstr>
      <vt:lpstr>Calibri</vt:lpstr>
      <vt:lpstr>WPS</vt:lpstr>
      <vt:lpstr>AI智能·学习搭子</vt:lpstr>
      <vt:lpstr>项目研发架构&amp;层次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丁炜宸</dc:creator>
  <cp:lastModifiedBy>Dingdust</cp:lastModifiedBy>
  <cp:revision>21</cp:revision>
  <dcterms:created xsi:type="dcterms:W3CDTF">2023-08-09T12:44:00Z</dcterms:created>
  <dcterms:modified xsi:type="dcterms:W3CDTF">2025-10-21T07:51:33Z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