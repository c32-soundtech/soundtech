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70" r:id="rId3"/>
    <p:sldId id="257" r:id="rId4"/>
    <p:sldId id="258" r:id="rId5"/>
    <p:sldId id="260" r:id="rId6"/>
    <p:sldId id="261" r:id="rId7"/>
    <p:sldId id="262" r:id="rId8"/>
    <p:sldId id="263" r:id="rId9"/>
    <p:sldId id="264" r:id="rId10"/>
    <p:sldId id="267" r:id="rId11"/>
    <p:sldId id="268" r:id="rId12"/>
    <p:sldId id="269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95" d="100"/>
          <a:sy n="95" d="100"/>
        </p:scale>
        <p:origin x="51" y="31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110.40.229.7:8000/frontend/index.html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9172352-8B56-AE8E-44AD-F22C95DB6B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/>
              <a:t>AI</a:t>
            </a:r>
            <a:r>
              <a:rPr lang="zh-CN" altLang="en-US" dirty="0"/>
              <a:t>智能</a:t>
            </a:r>
            <a:r>
              <a:rPr lang="en-US" altLang="zh-CN" dirty="0"/>
              <a:t>·</a:t>
            </a:r>
            <a:r>
              <a:rPr lang="zh-CN" altLang="en-US" dirty="0"/>
              <a:t>学习搭子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D370A3C-C87E-8FC1-67A2-9F07BD73E52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altLang="zh-CN" sz="3200" dirty="0"/>
              <a:t>V2.0 </a:t>
            </a:r>
            <a:r>
              <a:rPr lang="zh-CN" altLang="en-US" sz="3200" dirty="0"/>
              <a:t>企划与探索</a:t>
            </a:r>
          </a:p>
        </p:txBody>
      </p:sp>
    </p:spTree>
    <p:extLst>
      <p:ext uri="{BB962C8B-B14F-4D97-AF65-F5344CB8AC3E}">
        <p14:creationId xmlns:p14="http://schemas.microsoft.com/office/powerpoint/2010/main" val="11264991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682086E-A10F-86BA-A0F6-5AD2D62DD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需求分析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B695760-2FF1-6D66-E8F5-421532381E36}"/>
              </a:ext>
            </a:extLst>
          </p:cNvPr>
          <p:cNvSpPr txBox="1"/>
          <p:nvPr/>
        </p:nvSpPr>
        <p:spPr>
          <a:xfrm>
            <a:off x="838200" y="1690688"/>
            <a:ext cx="598463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对内容进行</a:t>
            </a:r>
            <a:r>
              <a:rPr lang="zh-CN" altLang="en-US" b="0" i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标签化处理</a:t>
            </a: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，便于在不同场景下灵活运用，提高学习资源的可访问性和适应性。</a:t>
            </a:r>
            <a:endParaRPr lang="en-US" altLang="zh-CN" b="0" i="0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在项目中实施</a:t>
            </a:r>
            <a:r>
              <a:rPr lang="en-US" altLang="zh-CN" b="0" i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AI</a:t>
            </a:r>
            <a:r>
              <a:rPr lang="zh-CN" altLang="en-US" b="0" i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驱动的内容生成</a:t>
            </a: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和互动设计，包括语音合成、</a:t>
            </a:r>
            <a:r>
              <a:rPr lang="zh-CN" altLang="en-US" b="0" i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提问生成</a:t>
            </a: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和</a:t>
            </a:r>
            <a:r>
              <a:rPr lang="zh-CN" altLang="en-US" b="0" i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互动设计</a:t>
            </a: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。</a:t>
            </a:r>
            <a:endParaRPr lang="en-US" altLang="zh-CN" b="0" i="0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确保项目按时进展，定期组织项目进度会议，并在遇到技术难题时及时与丁同学沟通解决。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BCF1C96-6BC6-2619-B504-DFC19B021475}"/>
              </a:ext>
            </a:extLst>
          </p:cNvPr>
          <p:cNvSpPr txBox="1"/>
          <p:nvPr/>
        </p:nvSpPr>
        <p:spPr>
          <a:xfrm>
            <a:off x="838200" y="3445014"/>
            <a:ext cx="598463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对话围绕日语学习资源的建设和游戏化练习网站的规划展开，</a:t>
            </a:r>
            <a:r>
              <a:rPr lang="en-US" altLang="zh-CN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……</a:t>
            </a: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强调了资源建设的优先级，即先完成</a:t>
            </a:r>
            <a:r>
              <a:rPr lang="zh-CN" altLang="en-US" b="0" i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静态资源的积累</a:t>
            </a: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，再考虑将其转化为网页形式，以便师生共享。同时，提出了资源型网站与练习反馈型网站的区别，前者注重资源提供，后者强调</a:t>
            </a:r>
            <a:r>
              <a:rPr lang="zh-CN" altLang="en-US" b="0" i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互动和反馈</a:t>
            </a:r>
            <a:r>
              <a:rPr lang="en-US" altLang="zh-CN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……</a:t>
            </a: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最终目标是将静态资源升级为资源型网站或更高级的学习网站。</a:t>
            </a:r>
            <a:endParaRPr lang="zh-CN" altLang="en-US" dirty="0"/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B3699398-0F15-5259-7AD1-0776BF53794C}"/>
              </a:ext>
            </a:extLst>
          </p:cNvPr>
          <p:cNvCxnSpPr/>
          <p:nvPr/>
        </p:nvCxnSpPr>
        <p:spPr>
          <a:xfrm flipV="1">
            <a:off x="3245618" y="949569"/>
            <a:ext cx="1401745" cy="8038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FBA1DD16-84FE-30D3-18B1-07C509BD7D27}"/>
              </a:ext>
            </a:extLst>
          </p:cNvPr>
          <p:cNvCxnSpPr>
            <a:cxnSpLocks/>
          </p:cNvCxnSpPr>
          <p:nvPr/>
        </p:nvCxnSpPr>
        <p:spPr>
          <a:xfrm flipV="1">
            <a:off x="4315767" y="1896626"/>
            <a:ext cx="2778369" cy="44464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674EF1C7-80A1-2164-61D9-A32751848113}"/>
              </a:ext>
            </a:extLst>
          </p:cNvPr>
          <p:cNvCxnSpPr>
            <a:cxnSpLocks/>
            <a:endCxn id="24" idx="1"/>
          </p:cNvCxnSpPr>
          <p:nvPr/>
        </p:nvCxnSpPr>
        <p:spPr>
          <a:xfrm flipV="1">
            <a:off x="6096000" y="3722529"/>
            <a:ext cx="1080197" cy="6743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2D46AED5-1A96-317D-8659-B7353651D1F1}"/>
              </a:ext>
            </a:extLst>
          </p:cNvPr>
          <p:cNvCxnSpPr>
            <a:cxnSpLocks/>
          </p:cNvCxnSpPr>
          <p:nvPr/>
        </p:nvCxnSpPr>
        <p:spPr>
          <a:xfrm flipV="1">
            <a:off x="4345912" y="2341266"/>
            <a:ext cx="2692958" cy="225585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16335609-0759-A4A2-1D72-3B1C3AE5437C}"/>
              </a:ext>
            </a:extLst>
          </p:cNvPr>
          <p:cNvSpPr txBox="1"/>
          <p:nvPr/>
        </p:nvSpPr>
        <p:spPr>
          <a:xfrm>
            <a:off x="4614706" y="738056"/>
            <a:ext cx="38585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知识库编码与索引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042F9B2-B5AC-B45C-B979-AE20A1A56EAE}"/>
              </a:ext>
            </a:extLst>
          </p:cNvPr>
          <p:cNvSpPr txBox="1"/>
          <p:nvPr/>
        </p:nvSpPr>
        <p:spPr>
          <a:xfrm>
            <a:off x="7159032" y="1711960"/>
            <a:ext cx="38585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大模型的动态交互（非本地化）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1B2DE231-7056-355E-0034-31E2BA59F7A7}"/>
              </a:ext>
            </a:extLst>
          </p:cNvPr>
          <p:cNvSpPr txBox="1"/>
          <p:nvPr/>
        </p:nvSpPr>
        <p:spPr>
          <a:xfrm>
            <a:off x="7176197" y="3399363"/>
            <a:ext cx="38585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前期仅由“特殊管理员”创建</a:t>
            </a:r>
            <a:endParaRPr lang="en-US" altLang="zh-CN" dirty="0"/>
          </a:p>
          <a:p>
            <a:r>
              <a:rPr lang="zh-CN" altLang="en-US" dirty="0"/>
              <a:t>即：相应资源在服务器端静态存储</a:t>
            </a: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B84442B1-8D44-CB15-355C-C9EC94F3D85A}"/>
              </a:ext>
            </a:extLst>
          </p:cNvPr>
          <p:cNvCxnSpPr>
            <a:cxnSpLocks/>
          </p:cNvCxnSpPr>
          <p:nvPr/>
        </p:nvCxnSpPr>
        <p:spPr>
          <a:xfrm flipV="1">
            <a:off x="3946490" y="2383239"/>
            <a:ext cx="3147646" cy="319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6F8BD014-CCB0-8FF3-0176-B45E83F9382C}"/>
              </a:ext>
            </a:extLst>
          </p:cNvPr>
          <p:cNvSpPr txBox="1"/>
          <p:nvPr/>
        </p:nvSpPr>
        <p:spPr>
          <a:xfrm>
            <a:off x="7159031" y="2198519"/>
            <a:ext cx="41947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【</a:t>
            </a:r>
            <a:r>
              <a:rPr lang="zh-CN" altLang="en-US" dirty="0"/>
              <a:t>大模型“主动的交互”，</a:t>
            </a:r>
            <a:endParaRPr lang="en-US" altLang="zh-CN" dirty="0"/>
          </a:p>
          <a:p>
            <a:r>
              <a:rPr lang="zh-CN" altLang="en-US" dirty="0"/>
              <a:t>而不是被动回复</a:t>
            </a:r>
            <a:r>
              <a:rPr lang="en-US" altLang="zh-CN" dirty="0"/>
              <a:t>】-&gt; </a:t>
            </a:r>
            <a:r>
              <a:rPr lang="zh-CN" altLang="en-US" dirty="0"/>
              <a:t>大模型的主动提问</a:t>
            </a:r>
          </a:p>
        </p:txBody>
      </p:sp>
    </p:spTree>
    <p:extLst>
      <p:ext uri="{BB962C8B-B14F-4D97-AF65-F5344CB8AC3E}">
        <p14:creationId xmlns:p14="http://schemas.microsoft.com/office/powerpoint/2010/main" val="31679413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B50615-9A02-020E-DDD3-570AF15A7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项目研发架构</a:t>
            </a:r>
            <a:r>
              <a:rPr lang="en-US" altLang="zh-CN" dirty="0"/>
              <a:t>&amp;</a:t>
            </a:r>
            <a:r>
              <a:rPr lang="zh-CN" altLang="en-US" dirty="0"/>
              <a:t>层次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3F3262B-0508-FF3E-4BD6-D7A8B7F498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数字人智能课堂（</a:t>
            </a:r>
            <a:r>
              <a:rPr lang="en-US" altLang="zh-CN" dirty="0"/>
              <a:t>V4.0</a:t>
            </a:r>
            <a:r>
              <a:rPr lang="zh-CN" altLang="en-US" dirty="0"/>
              <a:t>）</a:t>
            </a:r>
            <a:endParaRPr lang="en-US" altLang="zh-CN" dirty="0"/>
          </a:p>
          <a:p>
            <a:pPr lvl="1"/>
            <a:r>
              <a:rPr lang="zh-CN" altLang="en-US" dirty="0"/>
              <a:t>课堂</a:t>
            </a:r>
            <a:r>
              <a:rPr lang="en-US" altLang="zh-CN" dirty="0"/>
              <a:t>PPT</a:t>
            </a:r>
            <a:r>
              <a:rPr lang="zh-CN" altLang="en-US" dirty="0"/>
              <a:t>、</a:t>
            </a:r>
            <a:r>
              <a:rPr lang="en-US" altLang="zh-CN" dirty="0"/>
              <a:t>Word</a:t>
            </a:r>
            <a:r>
              <a:rPr lang="zh-CN" altLang="en-US" dirty="0"/>
              <a:t>文档生成系统（</a:t>
            </a:r>
            <a:r>
              <a:rPr lang="en-US" altLang="zh-CN" dirty="0"/>
              <a:t>V3.0+</a:t>
            </a:r>
            <a:r>
              <a:rPr lang="zh-CN" altLang="en-US" dirty="0"/>
              <a:t>）</a:t>
            </a:r>
            <a:endParaRPr lang="en-US" altLang="zh-CN" dirty="0"/>
          </a:p>
          <a:p>
            <a:pPr lvl="1"/>
            <a:r>
              <a:rPr lang="zh-CN" altLang="en-US" dirty="0"/>
              <a:t>数字人伴学系统（</a:t>
            </a:r>
            <a:r>
              <a:rPr lang="en-US" altLang="zh-CN" dirty="0"/>
              <a:t>V3.0</a:t>
            </a:r>
            <a:r>
              <a:rPr lang="zh-CN" altLang="en-US" dirty="0"/>
              <a:t>）</a:t>
            </a:r>
            <a:endParaRPr lang="en-US" altLang="zh-CN" dirty="0"/>
          </a:p>
          <a:p>
            <a:pPr lvl="2"/>
            <a:r>
              <a:rPr lang="zh-CN" altLang="en-US" dirty="0"/>
              <a:t>语音</a:t>
            </a:r>
            <a:r>
              <a:rPr lang="en-US" altLang="zh-CN" dirty="0"/>
              <a:t>-</a:t>
            </a:r>
            <a:r>
              <a:rPr lang="zh-CN" altLang="en-US" dirty="0"/>
              <a:t>情感识别系统（</a:t>
            </a:r>
            <a:r>
              <a:rPr lang="en-US" altLang="zh-CN" dirty="0"/>
              <a:t>V2.0+</a:t>
            </a:r>
            <a:r>
              <a:rPr lang="zh-CN" altLang="en-US" dirty="0"/>
              <a:t>）</a:t>
            </a:r>
            <a:endParaRPr lang="en-US" altLang="zh-CN" dirty="0"/>
          </a:p>
          <a:p>
            <a:pPr lvl="2"/>
            <a:r>
              <a:rPr lang="en-US" altLang="zh-CN" dirty="0"/>
              <a:t> </a:t>
            </a:r>
            <a:r>
              <a:rPr lang="zh-CN" altLang="en-US" dirty="0">
                <a:highlight>
                  <a:srgbClr val="FFFF00"/>
                </a:highlight>
              </a:rPr>
              <a:t>多智能体</a:t>
            </a:r>
            <a:r>
              <a:rPr lang="en-US" altLang="zh-CN" dirty="0">
                <a:highlight>
                  <a:srgbClr val="FFFF00"/>
                </a:highlight>
              </a:rPr>
              <a:t>-</a:t>
            </a:r>
            <a:r>
              <a:rPr lang="zh-CN" altLang="en-US" dirty="0">
                <a:highlight>
                  <a:srgbClr val="FFFF00"/>
                </a:highlight>
              </a:rPr>
              <a:t>知识库协作系统（</a:t>
            </a:r>
            <a:r>
              <a:rPr lang="en-US" altLang="zh-CN" dirty="0">
                <a:highlight>
                  <a:srgbClr val="FFFF00"/>
                </a:highlight>
              </a:rPr>
              <a:t>V2.0</a:t>
            </a:r>
            <a:r>
              <a:rPr lang="zh-CN" altLang="en-US" dirty="0">
                <a:highlight>
                  <a:srgbClr val="FFFF00"/>
                </a:highlight>
              </a:rPr>
              <a:t>）</a:t>
            </a:r>
            <a:endParaRPr lang="en-US" altLang="zh-CN" dirty="0">
              <a:highlight>
                <a:srgbClr val="FFFF00"/>
              </a:highlight>
            </a:endParaRPr>
          </a:p>
          <a:p>
            <a:pPr lvl="3"/>
            <a:r>
              <a:rPr lang="zh-CN" altLang="en-US" dirty="0">
                <a:highlight>
                  <a:srgbClr val="00FF00"/>
                </a:highlight>
              </a:rPr>
              <a:t>用户答题平台（</a:t>
            </a:r>
            <a:r>
              <a:rPr lang="en-US" altLang="zh-CN" dirty="0">
                <a:highlight>
                  <a:srgbClr val="00FF00"/>
                </a:highlight>
              </a:rPr>
              <a:t>V1.0-</a:t>
            </a:r>
            <a:r>
              <a:rPr lang="zh-CN" altLang="en-US" dirty="0">
                <a:highlight>
                  <a:srgbClr val="00FF00"/>
                </a:highlight>
              </a:rPr>
              <a:t>课程基线）√ </a:t>
            </a:r>
            <a:r>
              <a:rPr lang="en-US" altLang="zh-CN" dirty="0">
                <a:highlight>
                  <a:srgbClr val="00FF00"/>
                </a:highlight>
              </a:rPr>
              <a:t>2025.10.11</a:t>
            </a:r>
            <a:r>
              <a:rPr lang="zh-CN" altLang="en-US" dirty="0">
                <a:highlight>
                  <a:srgbClr val="00FF00"/>
                </a:highlight>
              </a:rPr>
              <a:t>已验收</a:t>
            </a:r>
            <a:endParaRPr lang="en-US" altLang="zh-CN" dirty="0">
              <a:highlight>
                <a:srgbClr val="00FF00"/>
              </a:highlight>
            </a:endParaRPr>
          </a:p>
          <a:p>
            <a:pPr lvl="3"/>
            <a:r>
              <a:rPr lang="zh-CN" altLang="en-US" dirty="0">
                <a:highlight>
                  <a:srgbClr val="C0C0C0"/>
                </a:highlight>
                <a:hlinkClick r:id="rId2"/>
              </a:rPr>
              <a:t>日语游戏化练习平台（</a:t>
            </a:r>
            <a:r>
              <a:rPr lang="en-US" altLang="zh-CN" dirty="0">
                <a:highlight>
                  <a:srgbClr val="C0C0C0"/>
                </a:highlight>
                <a:hlinkClick r:id="rId2"/>
              </a:rPr>
              <a:t>V1.0-</a:t>
            </a:r>
            <a:r>
              <a:rPr lang="zh-CN" altLang="en-US" dirty="0">
                <a:highlight>
                  <a:srgbClr val="C0C0C0"/>
                </a:highlight>
                <a:hlinkClick r:id="rId2"/>
              </a:rPr>
              <a:t>暑期东语外包）√ 已上线</a:t>
            </a:r>
            <a:endParaRPr lang="en-US" altLang="zh-CN" dirty="0">
              <a:highlight>
                <a:srgbClr val="C0C0C0"/>
              </a:highlight>
            </a:endParaRPr>
          </a:p>
          <a:p>
            <a:pPr lvl="2"/>
            <a:r>
              <a:rPr lang="zh-CN" altLang="en-US" dirty="0"/>
              <a:t>语音克隆</a:t>
            </a:r>
            <a:r>
              <a:rPr lang="en-US" altLang="zh-CN" dirty="0"/>
              <a:t>-</a:t>
            </a:r>
            <a:r>
              <a:rPr lang="zh-CN" altLang="en-US" dirty="0"/>
              <a:t>合成系统</a:t>
            </a:r>
            <a:r>
              <a:rPr lang="en-US" altLang="zh-CN" dirty="0"/>
              <a:t>(V2.0+)</a:t>
            </a:r>
          </a:p>
          <a:p>
            <a:pPr lvl="2"/>
            <a:r>
              <a:rPr lang="zh-CN" altLang="en-US" dirty="0"/>
              <a:t>数字人合成</a:t>
            </a:r>
            <a:r>
              <a:rPr lang="en-US" altLang="zh-CN" dirty="0"/>
              <a:t>-</a:t>
            </a:r>
            <a:r>
              <a:rPr lang="zh-CN" altLang="en-US" dirty="0"/>
              <a:t>推流系统</a:t>
            </a:r>
            <a:r>
              <a:rPr lang="en-US" altLang="zh-CN" dirty="0"/>
              <a:t>(V2.0+)</a:t>
            </a:r>
          </a:p>
          <a:p>
            <a:pPr lvl="1"/>
            <a:r>
              <a:rPr lang="zh-CN" altLang="en-US" dirty="0"/>
              <a:t>数字人教师讲演系统（</a:t>
            </a:r>
            <a:r>
              <a:rPr lang="en-US" altLang="zh-CN" dirty="0"/>
              <a:t>V3.0+</a:t>
            </a:r>
            <a:r>
              <a:rPr lang="zh-CN" altLang="en-US" dirty="0"/>
              <a:t>）</a:t>
            </a:r>
            <a:endParaRPr lang="en-US" altLang="zh-CN" dirty="0"/>
          </a:p>
          <a:p>
            <a:pPr lvl="1"/>
            <a:r>
              <a:rPr lang="zh-CN" altLang="en-US" dirty="0"/>
              <a:t>可解释性课程知识视频合成系统（</a:t>
            </a:r>
            <a:r>
              <a:rPr lang="en-US" altLang="zh-CN" dirty="0"/>
              <a:t>V3.0+</a:t>
            </a:r>
            <a:r>
              <a:rPr lang="zh-CN" altLang="en-US" dirty="0"/>
              <a:t>）</a:t>
            </a:r>
            <a:endParaRPr lang="en-US" altLang="zh-CN" dirty="0"/>
          </a:p>
          <a:p>
            <a:endParaRPr lang="en-US" altLang="zh-CN" dirty="0"/>
          </a:p>
          <a:p>
            <a:pPr marL="914400" lvl="2" indent="0">
              <a:buNone/>
            </a:pP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6881F70-DF2C-8CE6-FE8B-C2245E65A22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2602" y="1027906"/>
            <a:ext cx="3888000" cy="5260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7933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图形用户界面, 应用程序&#10;&#10;AI 生成的内容可能不正确。">
            <a:extLst>
              <a:ext uri="{FF2B5EF4-FFF2-40B4-BE49-F238E27FC236}">
                <a16:creationId xmlns:a16="http://schemas.microsoft.com/office/drawing/2014/main" id="{FA925ED1-2903-52E4-711B-1F07C5191B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902" y="572756"/>
            <a:ext cx="6037227" cy="518400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13DEFB30-AEDB-4552-4D6A-0317C013E158}"/>
              </a:ext>
            </a:extLst>
          </p:cNvPr>
          <p:cNvSpPr txBox="1"/>
          <p:nvPr/>
        </p:nvSpPr>
        <p:spPr>
          <a:xfrm>
            <a:off x="7092445" y="572756"/>
            <a:ext cx="39992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1.</a:t>
            </a:r>
            <a:r>
              <a:rPr lang="zh-CN" altLang="en-US" sz="2400" dirty="0"/>
              <a:t>配置智能体元信息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E8FCB559-4037-A218-70D2-6C20735516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2445" y="1363170"/>
            <a:ext cx="4154452" cy="4393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5927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 descr="图表&#10;&#10;AI 生成的内容可能不正确。">
            <a:extLst>
              <a:ext uri="{FF2B5EF4-FFF2-40B4-BE49-F238E27FC236}">
                <a16:creationId xmlns:a16="http://schemas.microsoft.com/office/drawing/2014/main" id="{2A5E2845-2007-7071-3724-BBD5263CE4C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839" y="347652"/>
            <a:ext cx="11404321" cy="388800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85B34185-25C2-487A-B0BE-10D02DF90BC7}"/>
              </a:ext>
            </a:extLst>
          </p:cNvPr>
          <p:cNvSpPr txBox="1"/>
          <p:nvPr/>
        </p:nvSpPr>
        <p:spPr>
          <a:xfrm>
            <a:off x="718457" y="4235652"/>
            <a:ext cx="966149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sz="2400" dirty="0"/>
              <a:t>Agent </a:t>
            </a:r>
            <a:r>
              <a:rPr lang="zh-CN" altLang="en-US" sz="2400" dirty="0"/>
              <a:t>智能体：统筹全局</a:t>
            </a:r>
            <a:endParaRPr lang="en-US" altLang="zh-CN" sz="2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zh-CN" sz="2400" dirty="0"/>
              <a:t>LLM </a:t>
            </a:r>
            <a:r>
              <a:rPr lang="zh-CN" altLang="en-US" sz="2400" dirty="0"/>
              <a:t>大模型：承上启下、智能体的基础能力</a:t>
            </a:r>
            <a:r>
              <a:rPr lang="en-US" altLang="zh-CN" sz="2400" dirty="0"/>
              <a:t>-</a:t>
            </a:r>
            <a:r>
              <a:rPr lang="zh-CN" altLang="en-US" sz="2400" dirty="0"/>
              <a:t>连接</a:t>
            </a:r>
            <a:endParaRPr lang="en-US" altLang="zh-CN" sz="2400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altLang="zh-CN" sz="2400" dirty="0"/>
              <a:t>Memory </a:t>
            </a:r>
            <a:r>
              <a:rPr lang="zh-CN" altLang="en-US" sz="2400" dirty="0"/>
              <a:t>记忆：数据库</a:t>
            </a:r>
            <a:endParaRPr lang="en-US" altLang="zh-CN" sz="2400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altLang="zh-CN" sz="2400" dirty="0"/>
              <a:t>Tool </a:t>
            </a:r>
            <a:r>
              <a:rPr lang="zh-CN" altLang="en-US" sz="2400" dirty="0"/>
              <a:t>工具：增广</a:t>
            </a:r>
            <a:endParaRPr lang="en-US" altLang="zh-CN" sz="2400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altLang="zh-CN" sz="2400" dirty="0"/>
              <a:t>Knowledge </a:t>
            </a:r>
            <a:r>
              <a:rPr lang="zh-CN" altLang="en-US" sz="2400" dirty="0"/>
              <a:t>知识：本地</a:t>
            </a:r>
            <a:r>
              <a:rPr lang="en-US" altLang="zh-CN" sz="2400" dirty="0"/>
              <a:t>RAG-</a:t>
            </a:r>
            <a:r>
              <a:rPr lang="zh-CN" altLang="en-US" sz="2400" dirty="0"/>
              <a:t>知识增广（</a:t>
            </a:r>
            <a:r>
              <a:rPr lang="en-US" altLang="zh-CN" sz="2400" dirty="0"/>
              <a:t>FT</a:t>
            </a:r>
            <a:r>
              <a:rPr lang="zh-CN" altLang="en-US" sz="2400" dirty="0"/>
              <a:t>）数据库</a:t>
            </a:r>
            <a:r>
              <a:rPr lang="en-US" altLang="zh-CN" sz="2400" dirty="0"/>
              <a:t> 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2876556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5AEC74DD-BD99-65C8-FC5A-B41AC6E9785E}"/>
              </a:ext>
            </a:extLst>
          </p:cNvPr>
          <p:cNvSpPr txBox="1"/>
          <p:nvPr/>
        </p:nvSpPr>
        <p:spPr>
          <a:xfrm>
            <a:off x="319035" y="310216"/>
            <a:ext cx="616466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sz="3200" dirty="0"/>
              <a:t>以一次实际的运行过程为例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ED08F24A-3E69-688F-D9B0-C7FB41C20B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53" y="1348219"/>
            <a:ext cx="9720000" cy="353712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A2556C3F-77F9-79B3-2904-9D090F18EF8F}"/>
              </a:ext>
            </a:extLst>
          </p:cNvPr>
          <p:cNvSpPr txBox="1"/>
          <p:nvPr/>
        </p:nvSpPr>
        <p:spPr>
          <a:xfrm>
            <a:off x="447153" y="978887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智能体初始化、预调度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0AEC1D4A-3ABD-AA97-0A4F-943F2EA467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53" y="2071263"/>
            <a:ext cx="9720000" cy="943650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22987D26-43E8-254D-4ED2-6B63AE36E7E1}"/>
              </a:ext>
            </a:extLst>
          </p:cNvPr>
          <p:cNvSpPr txBox="1"/>
          <p:nvPr/>
        </p:nvSpPr>
        <p:spPr>
          <a:xfrm>
            <a:off x="447153" y="1701931"/>
            <a:ext cx="20922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用户问题 </a:t>
            </a:r>
            <a:r>
              <a:rPr lang="en-US" altLang="zh-CN" dirty="0"/>
              <a:t>-&gt; </a:t>
            </a:r>
            <a:r>
              <a:rPr lang="zh-CN" altLang="en-US" dirty="0"/>
              <a:t>智能体</a:t>
            </a: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8A994559-056A-7881-8992-3739F9A9C1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53" y="3384245"/>
            <a:ext cx="5184000" cy="1925580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FF22C35F-3B36-C90A-C01D-EEBCD7C395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4522" y="3384245"/>
            <a:ext cx="3109512" cy="1926000"/>
          </a:xfrm>
          <a:prstGeom prst="rect">
            <a:avLst/>
          </a:prstGeom>
        </p:spPr>
      </p:pic>
      <p:sp>
        <p:nvSpPr>
          <p:cNvPr id="18" name="文本框 17">
            <a:extLst>
              <a:ext uri="{FF2B5EF4-FFF2-40B4-BE49-F238E27FC236}">
                <a16:creationId xmlns:a16="http://schemas.microsoft.com/office/drawing/2014/main" id="{9BB7B583-2504-2242-EECC-A7B4FE1B5034}"/>
              </a:ext>
            </a:extLst>
          </p:cNvPr>
          <p:cNvSpPr txBox="1"/>
          <p:nvPr/>
        </p:nvSpPr>
        <p:spPr>
          <a:xfrm>
            <a:off x="447153" y="3014913"/>
            <a:ext cx="34772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智能体 </a:t>
            </a:r>
            <a:r>
              <a:rPr lang="en-US" altLang="zh-CN" dirty="0"/>
              <a:t>-&gt; </a:t>
            </a:r>
            <a:r>
              <a:rPr lang="zh-CN" altLang="en-US" dirty="0"/>
              <a:t>工具调用（夸克搜索）</a:t>
            </a:r>
          </a:p>
        </p:txBody>
      </p:sp>
    </p:spTree>
    <p:extLst>
      <p:ext uri="{BB962C8B-B14F-4D97-AF65-F5344CB8AC3E}">
        <p14:creationId xmlns:p14="http://schemas.microsoft.com/office/powerpoint/2010/main" val="7806866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3064C-CE0B-9CF3-431A-90B93EC92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800FDCFB-A9F1-42F5-9C1B-EE1F91197FAA}"/>
              </a:ext>
            </a:extLst>
          </p:cNvPr>
          <p:cNvSpPr txBox="1"/>
          <p:nvPr/>
        </p:nvSpPr>
        <p:spPr>
          <a:xfrm>
            <a:off x="319035" y="310216"/>
            <a:ext cx="616466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sz="3200" dirty="0"/>
              <a:t>以一次实际的运行过程为例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80B56E4-9E67-A842-E7D5-8DDEDF3DF347}"/>
              </a:ext>
            </a:extLst>
          </p:cNvPr>
          <p:cNvSpPr txBox="1"/>
          <p:nvPr/>
        </p:nvSpPr>
        <p:spPr>
          <a:xfrm>
            <a:off x="447153" y="978887"/>
            <a:ext cx="34772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工具调用（夸克搜索） </a:t>
            </a:r>
            <a:r>
              <a:rPr lang="en-US" altLang="zh-CN" dirty="0"/>
              <a:t>-&gt; </a:t>
            </a:r>
            <a:r>
              <a:rPr lang="zh-CN" altLang="en-US" dirty="0"/>
              <a:t>智能体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C8921EB-BD28-BCC4-41DF-40FD8578AE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53" y="1348219"/>
            <a:ext cx="10047654" cy="2839414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FAB5B69-05F9-B28E-75AB-E860308DA4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4076" y="4187633"/>
            <a:ext cx="4530731" cy="1800000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0B50602D-0AC7-C0B5-7931-17D02B606D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53" y="4187633"/>
            <a:ext cx="5516923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2712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E8362B-DCFC-17FC-734B-3B4AB1228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A3D23878-D845-F53E-6772-F3220A3DFEBB}"/>
              </a:ext>
            </a:extLst>
          </p:cNvPr>
          <p:cNvSpPr txBox="1"/>
          <p:nvPr/>
        </p:nvSpPr>
        <p:spPr>
          <a:xfrm>
            <a:off x="319035" y="310216"/>
            <a:ext cx="616466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sz="3200" dirty="0"/>
              <a:t>以一次实际的运行过程为例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FA4C016-8092-E60F-2B2E-868E1E64EC4C}"/>
              </a:ext>
            </a:extLst>
          </p:cNvPr>
          <p:cNvSpPr txBox="1"/>
          <p:nvPr/>
        </p:nvSpPr>
        <p:spPr>
          <a:xfrm>
            <a:off x="447153" y="978887"/>
            <a:ext cx="5229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智能体 </a:t>
            </a:r>
            <a:r>
              <a:rPr lang="en-US" altLang="zh-CN" dirty="0"/>
              <a:t>-&gt; RAG</a:t>
            </a:r>
            <a:r>
              <a:rPr lang="zh-CN" altLang="en-US" dirty="0"/>
              <a:t>知识库（本地向量数据库</a:t>
            </a:r>
            <a:r>
              <a:rPr lang="en-US" altLang="zh-CN" dirty="0"/>
              <a:t>/</a:t>
            </a:r>
            <a:r>
              <a:rPr lang="zh-CN" altLang="en-US" dirty="0"/>
              <a:t>类搜索） 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B55AF508-1E1E-6E7B-FBAE-4DD3E91FE8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53" y="1350731"/>
            <a:ext cx="9720000" cy="630641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321D6BA7-9D3C-5352-78F0-2F4BF23607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53" y="2839292"/>
            <a:ext cx="5112000" cy="2667977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360AC473-5EEC-5AC8-2C01-C08C60DC3B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9153" y="1981372"/>
            <a:ext cx="4608000" cy="1606023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B93EC293-9010-26FB-C637-D4C2AF2CD0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59153" y="3533927"/>
            <a:ext cx="4608000" cy="1973342"/>
          </a:xfrm>
          <a:prstGeom prst="rect">
            <a:avLst/>
          </a:prstGeom>
        </p:spPr>
      </p:pic>
      <p:sp>
        <p:nvSpPr>
          <p:cNvPr id="15" name="文本框 14">
            <a:extLst>
              <a:ext uri="{FF2B5EF4-FFF2-40B4-BE49-F238E27FC236}">
                <a16:creationId xmlns:a16="http://schemas.microsoft.com/office/drawing/2014/main" id="{26552A75-BD8E-D7B5-8B91-070378183558}"/>
              </a:ext>
            </a:extLst>
          </p:cNvPr>
          <p:cNvSpPr txBox="1"/>
          <p:nvPr/>
        </p:nvSpPr>
        <p:spPr>
          <a:xfrm>
            <a:off x="447153" y="2242681"/>
            <a:ext cx="35781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RAG</a:t>
            </a:r>
            <a:r>
              <a:rPr lang="zh-CN" altLang="en-US" dirty="0"/>
              <a:t>知识库 </a:t>
            </a:r>
            <a:r>
              <a:rPr lang="en-US" altLang="zh-CN" dirty="0"/>
              <a:t>*</a:t>
            </a:r>
            <a:r>
              <a:rPr lang="zh-CN" altLang="en-US" dirty="0"/>
              <a:t>（已预先构建完成） </a:t>
            </a:r>
          </a:p>
        </p:txBody>
      </p:sp>
    </p:spTree>
    <p:extLst>
      <p:ext uri="{BB962C8B-B14F-4D97-AF65-F5344CB8AC3E}">
        <p14:creationId xmlns:p14="http://schemas.microsoft.com/office/powerpoint/2010/main" val="3943365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8CD45-E3C9-2AB8-501C-503448892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D2016D77-D593-2D89-482D-1A8AB96CABD9}"/>
              </a:ext>
            </a:extLst>
          </p:cNvPr>
          <p:cNvSpPr txBox="1"/>
          <p:nvPr/>
        </p:nvSpPr>
        <p:spPr>
          <a:xfrm>
            <a:off x="319035" y="310216"/>
            <a:ext cx="616466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sz="3200" dirty="0"/>
              <a:t>以一次实际的运行过程为例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2AD1096-7F55-8E15-3C18-FBB3969255F5}"/>
              </a:ext>
            </a:extLst>
          </p:cNvPr>
          <p:cNvSpPr txBox="1"/>
          <p:nvPr/>
        </p:nvSpPr>
        <p:spPr>
          <a:xfrm>
            <a:off x="447153" y="978887"/>
            <a:ext cx="23165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RAG</a:t>
            </a:r>
            <a:r>
              <a:rPr lang="zh-CN" altLang="en-US" dirty="0"/>
              <a:t>知识库 </a:t>
            </a:r>
            <a:r>
              <a:rPr lang="en-US" altLang="zh-CN" dirty="0"/>
              <a:t>-&gt; </a:t>
            </a:r>
            <a:r>
              <a:rPr lang="zh-CN" altLang="en-US" dirty="0"/>
              <a:t>智能体 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832B6724-3B40-7CB0-5086-7ED5378A53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53" y="3612114"/>
            <a:ext cx="5254902" cy="2778637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B4AE8A46-83FA-C3F5-93E3-3026606F65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53" y="1348219"/>
            <a:ext cx="9720000" cy="2968064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4613C21-5C68-0EF5-A117-1414B7FA93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2055" y="2050029"/>
            <a:ext cx="4465098" cy="4340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79095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26C25-9B41-8303-8F3C-6E9DA3D72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BE13EC6B-4275-483B-E32C-01F90A462763}"/>
              </a:ext>
            </a:extLst>
          </p:cNvPr>
          <p:cNvSpPr txBox="1"/>
          <p:nvPr/>
        </p:nvSpPr>
        <p:spPr>
          <a:xfrm>
            <a:off x="319035" y="310216"/>
            <a:ext cx="616466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sz="3200" dirty="0"/>
              <a:t>以一次实际的运行过程为例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C6192FC-333E-93F8-73BF-23BB4F152602}"/>
              </a:ext>
            </a:extLst>
          </p:cNvPr>
          <p:cNvSpPr txBox="1"/>
          <p:nvPr/>
        </p:nvSpPr>
        <p:spPr>
          <a:xfrm>
            <a:off x="447153" y="978887"/>
            <a:ext cx="2307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智能体 </a:t>
            </a:r>
            <a:r>
              <a:rPr lang="en-US" altLang="zh-CN" dirty="0"/>
              <a:t>-&gt; </a:t>
            </a:r>
            <a:r>
              <a:rPr lang="zh-CN" altLang="en-US" dirty="0"/>
              <a:t>大模型</a:t>
            </a:r>
            <a:r>
              <a:rPr lang="en-US" altLang="zh-CN" dirty="0"/>
              <a:t>LLM</a:t>
            </a:r>
            <a:r>
              <a:rPr lang="zh-CN" altLang="en-US" dirty="0"/>
              <a:t> 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C343DC12-9A12-43D2-001F-1D7FF07FDD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53" y="1348219"/>
            <a:ext cx="9720000" cy="3252257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66CE5036-1850-4719-07C2-2CD37D6BDB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53" y="3997808"/>
            <a:ext cx="972000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1597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18F0E-EAA4-F444-C508-A8C868F8E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187959AF-0960-4B4A-A4D3-703EC05E0F86}"/>
              </a:ext>
            </a:extLst>
          </p:cNvPr>
          <p:cNvSpPr txBox="1"/>
          <p:nvPr/>
        </p:nvSpPr>
        <p:spPr>
          <a:xfrm>
            <a:off x="319035" y="310216"/>
            <a:ext cx="616466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sz="3200" dirty="0"/>
              <a:t>以一次实际的运行过程为例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38ECA48-0447-602E-49FD-9A1D1D2DDE0C}"/>
              </a:ext>
            </a:extLst>
          </p:cNvPr>
          <p:cNvSpPr txBox="1"/>
          <p:nvPr/>
        </p:nvSpPr>
        <p:spPr>
          <a:xfrm>
            <a:off x="447153" y="978887"/>
            <a:ext cx="24849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大模型</a:t>
            </a:r>
            <a:r>
              <a:rPr lang="en-US" altLang="zh-CN" dirty="0"/>
              <a:t>LLM</a:t>
            </a:r>
            <a:r>
              <a:rPr lang="zh-CN" altLang="en-US" dirty="0"/>
              <a:t> </a:t>
            </a:r>
            <a:r>
              <a:rPr lang="en-US" altLang="zh-CN" dirty="0"/>
              <a:t>-&gt; </a:t>
            </a:r>
            <a:r>
              <a:rPr lang="zh-CN" altLang="en-US" dirty="0"/>
              <a:t>结果归纳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16FACC37-E7A4-4A9A-A70B-B6809441AA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53" y="1348219"/>
            <a:ext cx="9720000" cy="3668464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7FACC661-A320-0E8A-DCD9-4A2C2CB988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3584" y="4000006"/>
            <a:ext cx="3888000" cy="2033352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B4D9F89C-7026-6A31-7C37-D247C7EC98A9}"/>
              </a:ext>
            </a:extLst>
          </p:cNvPr>
          <p:cNvSpPr/>
          <p:nvPr/>
        </p:nvSpPr>
        <p:spPr>
          <a:xfrm>
            <a:off x="319035" y="3004457"/>
            <a:ext cx="10045840" cy="7887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8B0D3CC4-EA3D-258C-508B-8F04334FC3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1584" y="4000006"/>
            <a:ext cx="3888000" cy="2130739"/>
          </a:xfrm>
          <a:prstGeom prst="rect">
            <a:avLst/>
          </a:prstGeom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id="{E32480CC-6CCA-5D00-BEEC-236A348144FA}"/>
              </a:ext>
            </a:extLst>
          </p:cNvPr>
          <p:cNvSpPr/>
          <p:nvPr/>
        </p:nvSpPr>
        <p:spPr>
          <a:xfrm>
            <a:off x="3134248" y="5014213"/>
            <a:ext cx="3713703" cy="103072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D8248E5-F20A-83B9-9926-6B08ECFBA8F6}"/>
              </a:ext>
            </a:extLst>
          </p:cNvPr>
          <p:cNvSpPr/>
          <p:nvPr/>
        </p:nvSpPr>
        <p:spPr>
          <a:xfrm>
            <a:off x="7147180" y="4690132"/>
            <a:ext cx="2079223" cy="32408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41670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箱线图&#10;&#10;AI 生成的内容可能不正确。">
            <a:extLst>
              <a:ext uri="{FF2B5EF4-FFF2-40B4-BE49-F238E27FC236}">
                <a16:creationId xmlns:a16="http://schemas.microsoft.com/office/drawing/2014/main" id="{4FF3EA28-DE49-8E24-C0B4-CB85CF01D1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153" y="1348219"/>
            <a:ext cx="7200000" cy="2679518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7E2582C6-16AC-82F9-81C3-85287815D059}"/>
              </a:ext>
            </a:extLst>
          </p:cNvPr>
          <p:cNvSpPr txBox="1"/>
          <p:nvPr/>
        </p:nvSpPr>
        <p:spPr>
          <a:xfrm>
            <a:off x="319035" y="310216"/>
            <a:ext cx="616466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sz="3200" dirty="0"/>
              <a:t>拓展性探索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B804DB8-4D28-7D68-DF21-960539E0B396}"/>
              </a:ext>
            </a:extLst>
          </p:cNvPr>
          <p:cNvSpPr txBox="1"/>
          <p:nvPr/>
        </p:nvSpPr>
        <p:spPr>
          <a:xfrm>
            <a:off x="447153" y="978887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语言翻译框架：反思工作流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7A9E7EA-A5F5-E38C-FEA9-44DB01F2631F}"/>
              </a:ext>
            </a:extLst>
          </p:cNvPr>
          <p:cNvSpPr txBox="1"/>
          <p:nvPr/>
        </p:nvSpPr>
        <p:spPr>
          <a:xfrm>
            <a:off x="447153" y="4027737"/>
            <a:ext cx="44390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复杂任务分解</a:t>
            </a:r>
            <a:r>
              <a:rPr lang="en-US" altLang="zh-CN" dirty="0"/>
              <a:t>-</a:t>
            </a:r>
            <a:r>
              <a:rPr lang="zh-CN" altLang="en-US" dirty="0"/>
              <a:t>执行框架：计划（</a:t>
            </a:r>
            <a:r>
              <a:rPr lang="en-US" altLang="zh-CN" dirty="0"/>
              <a:t>Planner</a:t>
            </a:r>
            <a:r>
              <a:rPr lang="zh-CN" altLang="en-US" dirty="0"/>
              <a:t>）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2AEEB90-19A9-F7A2-1A2E-407B06B83984}"/>
              </a:ext>
            </a:extLst>
          </p:cNvPr>
          <p:cNvSpPr txBox="1"/>
          <p:nvPr/>
        </p:nvSpPr>
        <p:spPr>
          <a:xfrm>
            <a:off x="447152" y="4397069"/>
            <a:ext cx="8932983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Planner</a:t>
            </a:r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影响实际</a:t>
            </a:r>
            <a:r>
              <a:rPr lang="en-US" altLang="zh-CN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Agent</a:t>
            </a:r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工作时的协作与执行策略，</a:t>
            </a:r>
            <a:endParaRPr lang="en-US" altLang="zh-CN" b="0" i="0" dirty="0">
              <a:solidFill>
                <a:schemeClr val="bg2">
                  <a:lumMod val="75000"/>
                </a:schemeClr>
              </a:solidFill>
              <a:effectLst/>
              <a:highlight>
                <a:srgbClr val="000000"/>
              </a:highlight>
              <a:latin typeface="-apple-system"/>
            </a:endParaRPr>
          </a:p>
          <a:p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我们在介绍时曾说明</a:t>
            </a:r>
            <a:r>
              <a:rPr lang="en-US" altLang="zh-CN" b="0" i="0" dirty="0" err="1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agentUniverse</a:t>
            </a:r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可以视为一个</a:t>
            </a:r>
            <a:r>
              <a:rPr lang="en-US" altLang="zh-CN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Pattern Factory</a:t>
            </a:r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，</a:t>
            </a:r>
            <a:endParaRPr lang="en-US" altLang="zh-CN" b="0" i="0" dirty="0">
              <a:solidFill>
                <a:schemeClr val="bg2">
                  <a:lumMod val="75000"/>
                </a:schemeClr>
              </a:solidFill>
              <a:effectLst/>
              <a:highlight>
                <a:srgbClr val="000000"/>
              </a:highlight>
              <a:latin typeface="-apple-system"/>
            </a:endParaRPr>
          </a:p>
          <a:p>
            <a:r>
              <a:rPr lang="en-US" altLang="zh-CN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Planners</a:t>
            </a:r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是</a:t>
            </a:r>
            <a:r>
              <a:rPr lang="en-US" altLang="zh-CN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pattern</a:t>
            </a:r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的协作与执行思想的实际载体。包含多种类型，</a:t>
            </a:r>
            <a:endParaRPr lang="en-US" altLang="zh-CN" b="0" i="0" dirty="0">
              <a:solidFill>
                <a:schemeClr val="bg2">
                  <a:lumMod val="75000"/>
                </a:schemeClr>
              </a:solidFill>
              <a:effectLst/>
              <a:highlight>
                <a:srgbClr val="000000"/>
              </a:highlight>
              <a:latin typeface="-apple-system"/>
            </a:endParaRPr>
          </a:p>
          <a:p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例如让</a:t>
            </a:r>
            <a:r>
              <a:rPr lang="en-US" altLang="zh-CN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Agent</a:t>
            </a:r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遵从完全由人工编排的工作流程、</a:t>
            </a:r>
            <a:endParaRPr lang="en-US" altLang="zh-CN" b="0" i="0" dirty="0">
              <a:solidFill>
                <a:schemeClr val="bg2">
                  <a:lumMod val="75000"/>
                </a:schemeClr>
              </a:solidFill>
              <a:effectLst/>
              <a:highlight>
                <a:srgbClr val="000000"/>
              </a:highlight>
              <a:latin typeface="-apple-system"/>
            </a:endParaRPr>
          </a:p>
          <a:p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遵从某一个标准作业流程（</a:t>
            </a:r>
            <a:r>
              <a:rPr lang="en-US" altLang="zh-CN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SOP</a:t>
            </a:r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）、</a:t>
            </a:r>
            <a:endParaRPr lang="en-US" altLang="zh-CN" b="0" i="0" dirty="0">
              <a:solidFill>
                <a:schemeClr val="bg2">
                  <a:lumMod val="75000"/>
                </a:schemeClr>
              </a:solidFill>
              <a:effectLst/>
              <a:highlight>
                <a:srgbClr val="000000"/>
              </a:highlight>
              <a:latin typeface="-apple-system"/>
            </a:endParaRPr>
          </a:p>
          <a:p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或使用某些特定模式的工作方式如</a:t>
            </a:r>
            <a:r>
              <a:rPr lang="en-US" altLang="zh-CN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PEER/</a:t>
            </a:r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检索增强模式（</a:t>
            </a:r>
            <a:r>
              <a:rPr lang="en-US" altLang="zh-CN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RAG</a:t>
            </a:r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）、</a:t>
            </a:r>
            <a:endParaRPr lang="en-US" altLang="zh-CN" b="0" i="0" dirty="0">
              <a:solidFill>
                <a:schemeClr val="bg2">
                  <a:lumMod val="75000"/>
                </a:schemeClr>
              </a:solidFill>
              <a:effectLst/>
              <a:highlight>
                <a:srgbClr val="000000"/>
              </a:highlight>
              <a:latin typeface="-apple-system"/>
            </a:endParaRPr>
          </a:p>
          <a:p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或让智能体完全自主工作</a:t>
            </a:r>
            <a:r>
              <a:rPr lang="en-US" altLang="zh-CN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(Auto)</a:t>
            </a:r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。</a:t>
            </a:r>
            <a:endParaRPr lang="zh-CN" altLang="en-US" dirty="0">
              <a:solidFill>
                <a:schemeClr val="bg2">
                  <a:lumMod val="75000"/>
                </a:schemeClr>
              </a:solidFill>
              <a:highlight>
                <a:srgbClr val="000000"/>
              </a:highlight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EBBAD69-3736-723B-7433-1D17A67AE87A}"/>
              </a:ext>
            </a:extLst>
          </p:cNvPr>
          <p:cNvSpPr txBox="1"/>
          <p:nvPr/>
        </p:nvSpPr>
        <p:spPr>
          <a:xfrm>
            <a:off x="7647153" y="4027737"/>
            <a:ext cx="3111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讨论组框架：主持人</a:t>
            </a:r>
            <a:r>
              <a:rPr lang="en-US" altLang="zh-CN" dirty="0"/>
              <a:t>&amp;</a:t>
            </a:r>
            <a:r>
              <a:rPr lang="zh-CN" altLang="en-US" dirty="0"/>
              <a:t>参与者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51EFB3F-B57D-51FF-B42A-FB73CF7163BA}"/>
              </a:ext>
            </a:extLst>
          </p:cNvPr>
          <p:cNvSpPr txBox="1"/>
          <p:nvPr/>
        </p:nvSpPr>
        <p:spPr>
          <a:xfrm>
            <a:off x="7647153" y="4397069"/>
            <a:ext cx="6015613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2">
                    <a:lumMod val="25000"/>
                  </a:schemeClr>
                </a:solidFill>
              </a:rPr>
              <a:t>通过主持人和讨论者的设计，</a:t>
            </a:r>
            <a:endParaRPr lang="en-US" altLang="zh-CN" dirty="0">
              <a:solidFill>
                <a:schemeClr val="bg2">
                  <a:lumMod val="25000"/>
                </a:schemeClr>
              </a:solidFill>
            </a:endParaRPr>
          </a:p>
          <a:p>
            <a:r>
              <a:rPr lang="zh-CN" altLang="en-US" dirty="0">
                <a:solidFill>
                  <a:schemeClr val="bg2">
                    <a:lumMod val="25000"/>
                  </a:schemeClr>
                </a:solidFill>
              </a:rPr>
              <a:t>将</a:t>
            </a:r>
            <a:r>
              <a:rPr lang="en-US" altLang="zh-CN" dirty="0">
                <a:solidFill>
                  <a:schemeClr val="bg2">
                    <a:lumMod val="25000"/>
                  </a:schemeClr>
                </a:solidFill>
              </a:rPr>
              <a:t>Agent</a:t>
            </a:r>
            <a:r>
              <a:rPr lang="zh-CN" altLang="en-US" dirty="0">
                <a:solidFill>
                  <a:schemeClr val="bg2">
                    <a:lumMod val="25000"/>
                  </a:schemeClr>
                </a:solidFill>
              </a:rPr>
              <a:t>设定为具有一定先验知识，</a:t>
            </a:r>
            <a:endParaRPr lang="en-US" altLang="zh-CN" dirty="0">
              <a:solidFill>
                <a:schemeClr val="bg2">
                  <a:lumMod val="25000"/>
                </a:schemeClr>
              </a:solidFill>
            </a:endParaRPr>
          </a:p>
          <a:p>
            <a:r>
              <a:rPr lang="zh-CN" altLang="en-US" dirty="0">
                <a:solidFill>
                  <a:schemeClr val="bg2">
                    <a:lumMod val="25000"/>
                  </a:schemeClr>
                </a:solidFill>
              </a:rPr>
              <a:t>但可能具有不同立场的“讨论者”；</a:t>
            </a:r>
            <a:endParaRPr lang="en-US" altLang="zh-CN" dirty="0">
              <a:solidFill>
                <a:schemeClr val="bg2">
                  <a:lumMod val="25000"/>
                </a:schemeClr>
              </a:solidFill>
            </a:endParaRPr>
          </a:p>
          <a:p>
            <a:r>
              <a:rPr lang="zh-CN" altLang="en-US" dirty="0">
                <a:solidFill>
                  <a:schemeClr val="bg2">
                    <a:lumMod val="25000"/>
                  </a:schemeClr>
                </a:solidFill>
              </a:rPr>
              <a:t>“主持人”扮演教师角色；</a:t>
            </a:r>
            <a:endParaRPr lang="en-US" altLang="zh-CN" dirty="0">
              <a:solidFill>
                <a:schemeClr val="bg2">
                  <a:lumMod val="25000"/>
                </a:schemeClr>
              </a:solidFill>
            </a:endParaRPr>
          </a:p>
          <a:p>
            <a:r>
              <a:rPr lang="zh-CN" altLang="en-US" dirty="0">
                <a:solidFill>
                  <a:schemeClr val="bg2">
                    <a:lumMod val="25000"/>
                  </a:schemeClr>
                </a:solidFill>
              </a:rPr>
              <a:t>通过</a:t>
            </a:r>
            <a:r>
              <a:rPr lang="en-US" altLang="zh-CN" dirty="0">
                <a:solidFill>
                  <a:schemeClr val="bg2">
                    <a:lumMod val="25000"/>
                  </a:schemeClr>
                </a:solidFill>
              </a:rPr>
              <a:t>Agent</a:t>
            </a:r>
            <a:r>
              <a:rPr lang="zh-CN" altLang="en-US" dirty="0">
                <a:solidFill>
                  <a:schemeClr val="bg2">
                    <a:lumMod val="25000"/>
                  </a:schemeClr>
                </a:solidFill>
              </a:rPr>
              <a:t>之间的协作，模拟真实课堂。</a:t>
            </a:r>
            <a:endParaRPr lang="en-US" altLang="zh-CN" dirty="0">
              <a:solidFill>
                <a:schemeClr val="bg2">
                  <a:lumMod val="25000"/>
                </a:schemeClr>
              </a:solidFill>
            </a:endParaRPr>
          </a:p>
          <a:p>
            <a:r>
              <a:rPr lang="en-US" altLang="zh-CN" dirty="0">
                <a:solidFill>
                  <a:schemeClr val="bg2">
                    <a:lumMod val="25000"/>
                  </a:schemeClr>
                </a:solidFill>
              </a:rPr>
              <a:t>==============================</a:t>
            </a:r>
          </a:p>
          <a:p>
            <a:r>
              <a:rPr lang="zh-CN" altLang="en-US" dirty="0">
                <a:solidFill>
                  <a:schemeClr val="bg2">
                    <a:lumMod val="25000"/>
                  </a:schemeClr>
                </a:solidFill>
              </a:rPr>
              <a:t>适用于辩论赛、股票涨跌分析等场合。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E9EFF83-1421-EC65-575D-0F1AB45DC799}"/>
              </a:ext>
            </a:extLst>
          </p:cNvPr>
          <p:cNvSpPr txBox="1"/>
          <p:nvPr/>
        </p:nvSpPr>
        <p:spPr>
          <a:xfrm>
            <a:off x="7948603" y="2042578"/>
            <a:ext cx="341608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2">
                    <a:lumMod val="25000"/>
                  </a:schemeClr>
                </a:solidFill>
              </a:rPr>
              <a:t>通过不断的翻译与修改优化，</a:t>
            </a:r>
            <a:endParaRPr lang="en-US" altLang="zh-CN" dirty="0">
              <a:solidFill>
                <a:schemeClr val="bg2">
                  <a:lumMod val="25000"/>
                </a:schemeClr>
              </a:solidFill>
            </a:endParaRPr>
          </a:p>
          <a:p>
            <a:r>
              <a:rPr lang="zh-CN" altLang="en-US" dirty="0">
                <a:solidFill>
                  <a:schemeClr val="bg2">
                    <a:lumMod val="25000"/>
                  </a:schemeClr>
                </a:solidFill>
              </a:rPr>
              <a:t>实现大模型的迭代“反思”，</a:t>
            </a:r>
            <a:endParaRPr lang="en-US" altLang="zh-CN" dirty="0">
              <a:solidFill>
                <a:schemeClr val="bg2">
                  <a:lumMod val="25000"/>
                </a:schemeClr>
              </a:solidFill>
            </a:endParaRPr>
          </a:p>
          <a:p>
            <a:r>
              <a:rPr lang="zh-CN" altLang="en-US" dirty="0">
                <a:solidFill>
                  <a:schemeClr val="bg2">
                    <a:lumMod val="25000"/>
                  </a:schemeClr>
                </a:solidFill>
              </a:rPr>
              <a:t>模拟“</a:t>
            </a:r>
            <a:r>
              <a:rPr lang="en-US" altLang="zh-CN" dirty="0">
                <a:solidFill>
                  <a:schemeClr val="bg2">
                    <a:lumMod val="25000"/>
                  </a:schemeClr>
                </a:solidFill>
              </a:rPr>
              <a:t>GAN</a:t>
            </a:r>
            <a:r>
              <a:rPr lang="zh-CN" altLang="en-US" dirty="0">
                <a:solidFill>
                  <a:schemeClr val="bg2">
                    <a:lumMod val="25000"/>
                  </a:schemeClr>
                </a:solidFill>
              </a:rPr>
              <a:t>”的对抗学习方式，</a:t>
            </a:r>
            <a:endParaRPr lang="en-US" altLang="zh-CN" dirty="0">
              <a:solidFill>
                <a:schemeClr val="bg2">
                  <a:lumMod val="25000"/>
                </a:schemeClr>
              </a:solidFill>
            </a:endParaRPr>
          </a:p>
          <a:p>
            <a:r>
              <a:rPr lang="zh-CN" altLang="en-US" dirty="0">
                <a:solidFill>
                  <a:schemeClr val="bg2">
                    <a:lumMod val="25000"/>
                  </a:schemeClr>
                </a:solidFill>
              </a:rPr>
              <a:t>实现自适应与自优化。</a:t>
            </a:r>
          </a:p>
        </p:txBody>
      </p:sp>
    </p:spTree>
    <p:extLst>
      <p:ext uri="{BB962C8B-B14F-4D97-AF65-F5344CB8AC3E}">
        <p14:creationId xmlns:p14="http://schemas.microsoft.com/office/powerpoint/2010/main" val="3685398583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372</TotalTime>
  <Words>693</Words>
  <Application>Microsoft Office PowerPoint</Application>
  <PresentationFormat>宽屏</PresentationFormat>
  <Paragraphs>68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7" baseType="lpstr">
      <vt:lpstr>-apple-system</vt:lpstr>
      <vt:lpstr>Microsoft Yahei</vt:lpstr>
      <vt:lpstr>Arial</vt:lpstr>
      <vt:lpstr>Calibri</vt:lpstr>
      <vt:lpstr>WPS</vt:lpstr>
      <vt:lpstr>AI智能·学习搭子</vt:lpstr>
      <vt:lpstr>需求分析</vt:lpstr>
      <vt:lpstr>项目研发架构&amp;层次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丁炜宸</dc:creator>
  <cp:lastModifiedBy>Dingdust</cp:lastModifiedBy>
  <cp:revision>44</cp:revision>
  <dcterms:created xsi:type="dcterms:W3CDTF">2023-08-09T12:44:00Z</dcterms:created>
  <dcterms:modified xsi:type="dcterms:W3CDTF">2025-10-23T01:05:40Z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</Properties>
</file>