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60" r:id="rId5"/>
    <p:sldId id="259" r:id="rId6"/>
    <p:sldId id="261" r:id="rId7"/>
    <p:sldId id="265" r:id="rId8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 showGuides="1">
      <p:cViewPr varScale="1">
        <p:scale>
          <a:sx n="84" d="100"/>
          <a:sy n="84" d="100"/>
        </p:scale>
        <p:origin x="68" y="57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2025/11/13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2025/11/13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2025/11/13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2025/11/13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2025/11/13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2025/11/13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2025/11/13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2025/11/13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2025/11/13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2025/11/13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2025/11/13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  <a:t>2025/11/13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blog.csdn.net/l2778582993/article/details/153772849?spm=1001.2014.3001.5501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microsoft.com/office/2007/relationships/media" Target="../media/media2.mp4"/><Relationship Id="rId7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video" Target="../media/media3.mp4"/><Relationship Id="rId5" Type="http://schemas.microsoft.com/office/2007/relationships/media" Target="../media/media3.mp4"/><Relationship Id="rId10" Type="http://schemas.openxmlformats.org/officeDocument/2006/relationships/image" Target="../media/image7.png"/><Relationship Id="rId4" Type="http://schemas.openxmlformats.org/officeDocument/2006/relationships/video" Target="../media/media2.mp4"/><Relationship Id="rId9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64820BB4-D114-54DB-7792-6B496BFD88AA}"/>
              </a:ext>
            </a:extLst>
          </p:cNvPr>
          <p:cNvSpPr/>
          <p:nvPr/>
        </p:nvSpPr>
        <p:spPr>
          <a:xfrm>
            <a:off x="809939" y="1061043"/>
            <a:ext cx="10572125" cy="4247317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zh-CN" alt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吴育金</a:t>
            </a:r>
            <a:endParaRPr lang="en-US" altLang="zh-CN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pPr algn="ctr"/>
            <a:endParaRPr lang="en-US" altLang="zh-CN" sz="5400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pPr algn="ctr"/>
            <a:r>
              <a:rPr lang="zh-CN" alt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组织完成上次验收成果的提交</a:t>
            </a:r>
            <a:endParaRPr lang="en-US" altLang="zh-CN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pPr algn="ctr"/>
            <a:r>
              <a:rPr lang="zh-CN" alt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进行</a:t>
            </a:r>
            <a:r>
              <a:rPr lang="en-US" altLang="zh-CN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rag</a:t>
            </a:r>
            <a:r>
              <a:rPr lang="zh-CN" alt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数据库的创建</a:t>
            </a:r>
            <a:endParaRPr lang="en-US" altLang="zh-CN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pPr algn="ctr"/>
            <a:r>
              <a:rPr lang="zh-CN" altLang="en-US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毛概题目的导入，丰富数据库导入</a:t>
            </a:r>
            <a:endParaRPr lang="en-US" altLang="zh-CN" sz="5400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3903109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CE6FD784-9F15-C0F6-79EE-88E3A92112E1}"/>
              </a:ext>
            </a:extLst>
          </p:cNvPr>
          <p:cNvSpPr txBox="1"/>
          <p:nvPr/>
        </p:nvSpPr>
        <p:spPr>
          <a:xfrm>
            <a:off x="649507" y="151179"/>
            <a:ext cx="10582373" cy="56938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zh-CN" altLang="en-US" sz="2800" dirty="0"/>
              <a:t>任务：进行</a:t>
            </a:r>
            <a:r>
              <a:rPr lang="en-US" altLang="zh-CN" sz="2800" dirty="0"/>
              <a:t>rag</a:t>
            </a:r>
            <a:r>
              <a:rPr lang="zh-CN" altLang="en-US" sz="2800" dirty="0"/>
              <a:t>数据库的创建，题库数据的丰富，成果物的按要求整理提交，</a:t>
            </a:r>
            <a:r>
              <a:rPr lang="en-US" altLang="zh-CN" sz="2800" dirty="0"/>
              <a:t>rag</a:t>
            </a:r>
            <a:r>
              <a:rPr lang="zh-CN" altLang="en-US" sz="2800" dirty="0"/>
              <a:t>的数据库创建博客</a:t>
            </a:r>
            <a:endParaRPr lang="en-US" altLang="zh-CN" sz="28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zh-CN" altLang="en-US" sz="2800" dirty="0"/>
              <a:t>完成进度：</a:t>
            </a:r>
            <a:r>
              <a:rPr lang="en-US" altLang="zh-CN" sz="2800" dirty="0"/>
              <a:t>100%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altLang="zh-CN" sz="28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zh-CN" altLang="en-US" sz="2800" dirty="0"/>
              <a:t>完成成果物：</a:t>
            </a:r>
            <a:endParaRPr lang="en-US" altLang="zh-CN" sz="2800" dirty="0"/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zh-CN" altLang="en-US" sz="2800" dirty="0"/>
              <a:t>题目格式转换代码</a:t>
            </a:r>
            <a:r>
              <a:rPr lang="en-US" altLang="zh-CN" sz="2800" dirty="0"/>
              <a:t>convert_excel_to_csv.py</a:t>
            </a:r>
            <a:r>
              <a:rPr lang="zh-CN" altLang="en-US" sz="2800" dirty="0"/>
              <a:t>（将学校的毛概题目转换为符合上次编写的数据导入</a:t>
            </a:r>
            <a:r>
              <a:rPr lang="en-US" altLang="zh-CN" sz="2800" dirty="0"/>
              <a:t>csv</a:t>
            </a:r>
            <a:r>
              <a:rPr lang="zh-CN" altLang="en-US" sz="2800" dirty="0"/>
              <a:t>文件的格式）</a:t>
            </a:r>
            <a:endParaRPr lang="en-US" altLang="zh-CN" sz="2800" dirty="0"/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altLang="zh-CN" sz="2800" dirty="0"/>
              <a:t>Db</a:t>
            </a:r>
            <a:r>
              <a:rPr lang="zh-CN" altLang="en-US" sz="2800" dirty="0"/>
              <a:t>文件夹（</a:t>
            </a:r>
            <a:r>
              <a:rPr lang="en-US" altLang="zh-CN" sz="2800" dirty="0"/>
              <a:t>Rag</a:t>
            </a:r>
            <a:r>
              <a:rPr lang="zh-CN" altLang="en-US" sz="2800" dirty="0"/>
              <a:t>数据库的创建，用压缩后的毛概书</a:t>
            </a:r>
            <a:r>
              <a:rPr lang="en-US" altLang="zh-CN" sz="2800" dirty="0"/>
              <a:t>100MB-&gt;10MB</a:t>
            </a:r>
            <a:r>
              <a:rPr lang="zh-CN" altLang="en-US" sz="2800" dirty="0"/>
              <a:t>作为知识）</a:t>
            </a:r>
            <a:endParaRPr lang="en-US" altLang="zh-CN" sz="2800" dirty="0"/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zh-CN" altLang="en-US" sz="2800" dirty="0"/>
              <a:t>按要求的成果物上传（还缺少将测试文档由</a:t>
            </a:r>
            <a:r>
              <a:rPr lang="en-US" altLang="zh-CN" sz="2800" dirty="0"/>
              <a:t>doc</a:t>
            </a:r>
            <a:r>
              <a:rPr lang="zh-CN" altLang="en-US" sz="2800" dirty="0"/>
              <a:t>转换为</a:t>
            </a:r>
            <a:r>
              <a:rPr lang="en-US" altLang="zh-CN" sz="2800" dirty="0"/>
              <a:t>md</a:t>
            </a:r>
            <a:r>
              <a:rPr lang="zh-CN" altLang="en-US" sz="2800" dirty="0"/>
              <a:t>）</a:t>
            </a:r>
            <a:endParaRPr lang="en-US" altLang="zh-CN" sz="2800" dirty="0"/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zh-CN" altLang="en-US" sz="2800" dirty="0"/>
              <a:t>一篇</a:t>
            </a:r>
            <a:r>
              <a:rPr lang="en-US" altLang="zh-CN" sz="2800" dirty="0"/>
              <a:t>CSDN</a:t>
            </a:r>
            <a:r>
              <a:rPr lang="zh-CN" altLang="en-US" sz="2800" dirty="0"/>
              <a:t>：</a:t>
            </a:r>
            <a:r>
              <a:rPr lang="zh-CN" altLang="en-US" sz="2800" dirty="0">
                <a:hlinkClick r:id="rId2"/>
              </a:rPr>
              <a:t>基于 </a:t>
            </a:r>
            <a:r>
              <a:rPr lang="en-US" altLang="zh-CN" sz="2800" dirty="0" err="1">
                <a:hlinkClick r:id="rId2"/>
              </a:rPr>
              <a:t>AgentUniverse</a:t>
            </a:r>
            <a:r>
              <a:rPr lang="en-US" altLang="zh-CN" sz="2800" dirty="0">
                <a:hlinkClick r:id="rId2"/>
              </a:rPr>
              <a:t> </a:t>
            </a:r>
            <a:r>
              <a:rPr lang="zh-CN" altLang="en-US" sz="2800" dirty="0">
                <a:hlinkClick r:id="rId2"/>
              </a:rPr>
              <a:t>构建 </a:t>
            </a:r>
            <a:r>
              <a:rPr lang="en-US" altLang="zh-CN" sz="2800" dirty="0">
                <a:hlinkClick r:id="rId2"/>
              </a:rPr>
              <a:t>RAG </a:t>
            </a:r>
            <a:r>
              <a:rPr lang="zh-CN" altLang="en-US" sz="2800" dirty="0">
                <a:hlinkClick r:id="rId2"/>
              </a:rPr>
              <a:t>数据库：从 </a:t>
            </a:r>
            <a:r>
              <a:rPr lang="en-US" altLang="zh-CN" sz="2800" dirty="0">
                <a:hlinkClick r:id="rId2"/>
              </a:rPr>
              <a:t>0 </a:t>
            </a:r>
            <a:r>
              <a:rPr lang="zh-CN" altLang="en-US" sz="2800" dirty="0">
                <a:hlinkClick r:id="rId2"/>
              </a:rPr>
              <a:t>到 </a:t>
            </a:r>
            <a:r>
              <a:rPr lang="en-US" altLang="zh-CN" sz="2800" dirty="0">
                <a:hlinkClick r:id="rId2"/>
              </a:rPr>
              <a:t>1 </a:t>
            </a:r>
            <a:r>
              <a:rPr lang="zh-CN" altLang="en-US" sz="2800" dirty="0">
                <a:hlinkClick r:id="rId2"/>
              </a:rPr>
              <a:t>的实战指南</a:t>
            </a:r>
            <a:r>
              <a:rPr lang="en-US" altLang="zh-CN" sz="2800" dirty="0">
                <a:hlinkClick r:id="rId2"/>
              </a:rPr>
              <a:t>-CSDN</a:t>
            </a:r>
            <a:r>
              <a:rPr lang="zh-CN" altLang="en-US" sz="2800" dirty="0">
                <a:hlinkClick r:id="rId2"/>
              </a:rPr>
              <a:t>博客</a:t>
            </a:r>
            <a:endParaRPr lang="en-US" altLang="zh-CN" sz="2800" dirty="0"/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zh-CN" altLang="en-US" sz="2800" dirty="0"/>
              <a:t>测试文档合并转换为</a:t>
            </a:r>
            <a:r>
              <a:rPr lang="en-US" altLang="zh-CN" sz="2800" dirty="0"/>
              <a:t>md</a:t>
            </a:r>
          </a:p>
        </p:txBody>
      </p:sp>
    </p:spTree>
    <p:extLst>
      <p:ext uri="{BB962C8B-B14F-4D97-AF65-F5344CB8AC3E}">
        <p14:creationId xmlns:p14="http://schemas.microsoft.com/office/powerpoint/2010/main" val="27425525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32E613AA-FBDB-3158-A5A1-0AA7C3A7E3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6299" y="0"/>
            <a:ext cx="781940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622715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81357B54-602C-77ED-17F8-CC79ADC27E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1520" y="1334652"/>
            <a:ext cx="8166520" cy="4584936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4E776182-389C-6D52-352B-846E0F3A803C}"/>
              </a:ext>
            </a:extLst>
          </p:cNvPr>
          <p:cNvSpPr txBox="1"/>
          <p:nvPr/>
        </p:nvSpPr>
        <p:spPr>
          <a:xfrm>
            <a:off x="342900" y="1463040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数据库初始化代码</a:t>
            </a:r>
          </a:p>
        </p:txBody>
      </p:sp>
    </p:spTree>
    <p:extLst>
      <p:ext uri="{BB962C8B-B14F-4D97-AF65-F5344CB8AC3E}">
        <p14:creationId xmlns:p14="http://schemas.microsoft.com/office/powerpoint/2010/main" val="13792507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AA70B8F9-8F61-6EEA-8254-27A603996C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4551" y="0"/>
            <a:ext cx="10398297" cy="6858000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C8FFBB60-D8F2-3B09-B0D0-83FD7BD5A73F}"/>
              </a:ext>
            </a:extLst>
          </p:cNvPr>
          <p:cNvSpPr txBox="1"/>
          <p:nvPr/>
        </p:nvSpPr>
        <p:spPr>
          <a:xfrm>
            <a:off x="228600" y="563880"/>
            <a:ext cx="9296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向量数据库</a:t>
            </a:r>
          </a:p>
        </p:txBody>
      </p:sp>
    </p:spTree>
    <p:extLst>
      <p:ext uri="{BB962C8B-B14F-4D97-AF65-F5344CB8AC3E}">
        <p14:creationId xmlns:p14="http://schemas.microsoft.com/office/powerpoint/2010/main" val="9615741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DDB30D-5C78-8A79-B79A-A435D5670F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本框 5">
            <a:extLst>
              <a:ext uri="{FF2B5EF4-FFF2-40B4-BE49-F238E27FC236}">
                <a16:creationId xmlns:a16="http://schemas.microsoft.com/office/drawing/2014/main" id="{D982FAFF-872B-C234-A979-EA50F26ADBE4}"/>
              </a:ext>
            </a:extLst>
          </p:cNvPr>
          <p:cNvSpPr txBox="1"/>
          <p:nvPr/>
        </p:nvSpPr>
        <p:spPr>
          <a:xfrm>
            <a:off x="342900" y="1463040"/>
            <a:ext cx="11031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Csdn</a:t>
            </a:r>
            <a:r>
              <a:rPr lang="zh-CN" altLang="en-US" dirty="0"/>
              <a:t>博客</a:t>
            </a: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9678A9AF-A14F-6598-BAB4-58ACE61E1A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8981" y="1054137"/>
            <a:ext cx="8228646" cy="47497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2888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框 6">
            <a:extLst>
              <a:ext uri="{FF2B5EF4-FFF2-40B4-BE49-F238E27FC236}">
                <a16:creationId xmlns:a16="http://schemas.microsoft.com/office/drawing/2014/main" id="{0A89BCC7-E809-3226-AA4A-E94E56B2643E}"/>
              </a:ext>
            </a:extLst>
          </p:cNvPr>
          <p:cNvSpPr txBox="1"/>
          <p:nvPr/>
        </p:nvSpPr>
        <p:spPr>
          <a:xfrm>
            <a:off x="581186" y="1813302"/>
            <a:ext cx="4324028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对于上次的数字人项目，使用简易项目</a:t>
            </a:r>
            <a:r>
              <a:rPr lang="en-US" altLang="zh-CN" dirty="0" err="1"/>
              <a:t>musetalk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已完成：使用小组人员的真人视频测试  使用单一图片进行合成，经行渲染确保效果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/>
              <a:t>待办：集成数字人，到我们的答题系统平台</a:t>
            </a:r>
            <a:endParaRPr lang="zh-CN" altLang="en-US" dirty="0"/>
          </a:p>
        </p:txBody>
      </p:sp>
      <p:pic>
        <p:nvPicPr>
          <p:cNvPr id="8" name="audio_0">
            <a:hlinkClick r:id="" action="ppaction://media"/>
            <a:extLst>
              <a:ext uri="{FF2B5EF4-FFF2-40B4-BE49-F238E27FC236}">
                <a16:creationId xmlns:a16="http://schemas.microsoft.com/office/drawing/2014/main" id="{A3830D2B-D100-01B4-E2DF-79C4C0F5CBE1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5074920" y="1059039"/>
            <a:ext cx="1822778" cy="3148501"/>
          </a:xfrm>
          <a:prstGeom prst="rect">
            <a:avLst/>
          </a:prstGeom>
        </p:spPr>
      </p:pic>
      <p:pic>
        <p:nvPicPr>
          <p:cNvPr id="2" name="output_audio (1)">
            <a:hlinkClick r:id="" action="ppaction://media"/>
            <a:extLst>
              <a:ext uri="{FF2B5EF4-FFF2-40B4-BE49-F238E27FC236}">
                <a16:creationId xmlns:a16="http://schemas.microsoft.com/office/drawing/2014/main" id="{5AA3256D-F126-D6F4-0D0C-C1D8C650AFC0}"/>
              </a:ext>
            </a:extLst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9"/>
          <a:stretch>
            <a:fillRect/>
          </a:stretch>
        </p:blipFill>
        <p:spPr>
          <a:xfrm>
            <a:off x="7262495" y="1007689"/>
            <a:ext cx="3251200" cy="3251200"/>
          </a:xfrm>
          <a:prstGeom prst="rect">
            <a:avLst/>
          </a:prstGeom>
        </p:spPr>
      </p:pic>
      <p:pic>
        <p:nvPicPr>
          <p:cNvPr id="3" name="Snipaste_2025-11-09_16-19-30_zzx10s">
            <a:hlinkClick r:id="" action="ppaction://media"/>
            <a:extLst>
              <a:ext uri="{FF2B5EF4-FFF2-40B4-BE49-F238E27FC236}">
                <a16:creationId xmlns:a16="http://schemas.microsoft.com/office/drawing/2014/main" id="{D071B84E-84F9-15CC-1AE9-723D309BA52D}"/>
              </a:ext>
            </a:extLst>
          </p:cNvPr>
          <p:cNvPicPr>
            <a:picLocks noChangeAspect="1"/>
          </p:cNvPicPr>
          <p:nvPr>
            <a:vide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4905214" y="4481195"/>
            <a:ext cx="2146300" cy="2006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69585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8000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0" dur="200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4" dur="9997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15" fill="hold" display="0">
                  <p:stCondLst>
                    <p:cond delay="indefinite"/>
                  </p:stCondLst>
                </p:cTn>
                <p:tgtEl>
                  <p:spTgt spid="8"/>
                </p:tgtEl>
              </p:cMediaNode>
            </p:video>
            <p:seq concurrent="1" nextAc="seek">
              <p:cTn id="16" restart="whenNotActive" fill="hold" evtFilter="cancelBubble" nodeType="interactiveSeq">
                <p:stCondLst>
                  <p:cond evt="onClick" delay="0">
                    <p:tgtEl>
                      <p:spTgt spid="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7" fill="hold">
                      <p:stCondLst>
                        <p:cond delay="0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20" dur="1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8"/>
                  </p:tgtEl>
                </p:cond>
              </p:nextCondLst>
            </p:seq>
            <p:video>
              <p:cMediaNode vol="80000">
                <p:cTn id="21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  <p:seq concurrent="1" nextAc="seek">
              <p:cTn id="22" restart="whenNotActive" fill="hold" evtFilter="cancelBubble" nodeType="interactiveSeq">
                <p:stCondLst>
                  <p:cond evt="onClick" delay="0">
                    <p:tgtEl>
                      <p:spTgt spid="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3" fill="hold">
                      <p:stCondLst>
                        <p:cond delay="0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26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"/>
                  </p:tgtEl>
                </p:cond>
              </p:nextCondLst>
            </p:seq>
            <p:video>
              <p:cMediaNode vol="80000">
                <p:cTn id="27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  <p:seq concurrent="1" nextAc="seek">
              <p:cTn id="28" restart="whenNotActive" fill="hold" evtFilter="cancelBubble" nodeType="interactiveSeq">
                <p:stCondLst>
                  <p:cond evt="onClick" delay="0">
                    <p:tgtEl>
                      <p:spTgt spid="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9" fill="hold">
                      <p:stCondLst>
                        <p:cond delay="0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32" dur="1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"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107</TotalTime>
  <Words>215</Words>
  <Application>Microsoft Office PowerPoint</Application>
  <PresentationFormat>宽屏</PresentationFormat>
  <Paragraphs>22</Paragraphs>
  <Slides>7</Slides>
  <Notes>0</Notes>
  <HiddenSlides>0</HiddenSlides>
  <MMClips>3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7</vt:i4>
      </vt:variant>
    </vt:vector>
  </HeadingPairs>
  <TitlesOfParts>
    <vt:vector size="10" baseType="lpstr">
      <vt:lpstr>Arial</vt:lpstr>
      <vt:lpstr>Calibri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Lenovo</dc:creator>
  <cp:lastModifiedBy>UZ Y</cp:lastModifiedBy>
  <cp:revision>19</cp:revision>
  <dcterms:created xsi:type="dcterms:W3CDTF">2023-08-09T12:44:00Z</dcterms:created>
  <dcterms:modified xsi:type="dcterms:W3CDTF">2025-11-13T02:28:47Z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2052-12.1.0.21915</vt:lpwstr>
  </property>
</Properties>
</file>