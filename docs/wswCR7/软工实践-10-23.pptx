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63" r:id="rId3"/>
    <p:sldId id="256" r:id="rId4"/>
    <p:sldId id="266" r:id="rId5"/>
    <p:sldId id="257" r:id="rId6"/>
    <p:sldId id="265" r:id="rId7"/>
    <p:sldId id="258" r:id="rId8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31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DCDCDC"/>
    <a:srgbClr val="F0F0F0"/>
    <a:srgbClr val="E6E6E6"/>
    <a:srgbClr val="C8C8C8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99" d="100"/>
          <a:sy n="99" d="100"/>
        </p:scale>
        <p:origin x="84" y="582"/>
      </p:cViewPr>
      <p:guideLst>
        <p:guide orient="horz" pos="2131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presProps" Target="presProps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1" Type="http://schemas.openxmlformats.org/officeDocument/2006/relationships/tableStyles" Target="tableStyles.xml"/><Relationship Id="rId10" Type="http://schemas.openxmlformats.org/officeDocument/2006/relationships/viewProps" Target="viewProps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6" Type="http://schemas.openxmlformats.org/officeDocument/2006/relationships/tags" Target="../tags/tag15.xml"/><Relationship Id="rId5" Type="http://schemas.openxmlformats.org/officeDocument/2006/relationships/tags" Target="../tags/tag14.xml"/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7" Type="http://schemas.openxmlformats.org/officeDocument/2006/relationships/tags" Target="../tags/tag21.xml"/><Relationship Id="rId6" Type="http://schemas.openxmlformats.org/officeDocument/2006/relationships/tags" Target="../tags/tag20.xml"/><Relationship Id="rId5" Type="http://schemas.openxmlformats.org/officeDocument/2006/relationships/tags" Target="../tags/tag19.xml"/><Relationship Id="rId4" Type="http://schemas.openxmlformats.org/officeDocument/2006/relationships/tags" Target="../tags/tag18.xml"/><Relationship Id="rId3" Type="http://schemas.openxmlformats.org/officeDocument/2006/relationships/tags" Target="../tags/tag17.xml"/><Relationship Id="rId2" Type="http://schemas.openxmlformats.org/officeDocument/2006/relationships/tags" Target="../tags/tag16.xm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9" Type="http://schemas.openxmlformats.org/officeDocument/2006/relationships/tags" Target="../tags/tag29.xml"/><Relationship Id="rId8" Type="http://schemas.openxmlformats.org/officeDocument/2006/relationships/tags" Target="../tags/tag28.xml"/><Relationship Id="rId7" Type="http://schemas.openxmlformats.org/officeDocument/2006/relationships/tags" Target="../tags/tag27.xml"/><Relationship Id="rId6" Type="http://schemas.openxmlformats.org/officeDocument/2006/relationships/tags" Target="../tags/tag26.xml"/><Relationship Id="rId5" Type="http://schemas.openxmlformats.org/officeDocument/2006/relationships/tags" Target="../tags/tag25.xml"/><Relationship Id="rId4" Type="http://schemas.openxmlformats.org/officeDocument/2006/relationships/tags" Target="../tags/tag24.xml"/><Relationship Id="rId3" Type="http://schemas.openxmlformats.org/officeDocument/2006/relationships/tags" Target="../tags/tag23.xml"/><Relationship Id="rId2" Type="http://schemas.openxmlformats.org/officeDocument/2006/relationships/tags" Target="../tags/tag22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5" Type="http://schemas.openxmlformats.org/officeDocument/2006/relationships/tags" Target="../tags/tag33.xml"/><Relationship Id="rId4" Type="http://schemas.openxmlformats.org/officeDocument/2006/relationships/tags" Target="../tags/tag32.xml"/><Relationship Id="rId3" Type="http://schemas.openxmlformats.org/officeDocument/2006/relationships/tags" Target="../tags/tag31.xml"/><Relationship Id="rId2" Type="http://schemas.openxmlformats.org/officeDocument/2006/relationships/tags" Target="../tags/tag30.xm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36.xml"/><Relationship Id="rId3" Type="http://schemas.openxmlformats.org/officeDocument/2006/relationships/tags" Target="../tags/tag35.xml"/><Relationship Id="rId2" Type="http://schemas.openxmlformats.org/officeDocument/2006/relationships/tags" Target="../tags/tag34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7" Type="http://schemas.openxmlformats.org/officeDocument/2006/relationships/tags" Target="../tags/tag42.xml"/><Relationship Id="rId6" Type="http://schemas.openxmlformats.org/officeDocument/2006/relationships/tags" Target="../tags/tag41.xml"/><Relationship Id="rId5" Type="http://schemas.openxmlformats.org/officeDocument/2006/relationships/tags" Target="../tags/tag40.xml"/><Relationship Id="rId4" Type="http://schemas.openxmlformats.org/officeDocument/2006/relationships/tags" Target="../tags/tag39.xml"/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6" Type="http://schemas.openxmlformats.org/officeDocument/2006/relationships/tags" Target="../tags/tag47.xml"/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5" Type="http://schemas.openxmlformats.org/officeDocument/2006/relationships/tags" Target="../tags/tag51.xml"/><Relationship Id="rId4" Type="http://schemas.openxmlformats.org/officeDocument/2006/relationships/tags" Target="../tags/tag50.xml"/><Relationship Id="rId3" Type="http://schemas.openxmlformats.org/officeDocument/2006/relationships/tags" Target="../tags/tag49.xml"/><Relationship Id="rId2" Type="http://schemas.openxmlformats.org/officeDocument/2006/relationships/tags" Target="../tags/tag48.xm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56.xml"/><Relationship Id="rId5" Type="http://schemas.openxmlformats.org/officeDocument/2006/relationships/tags" Target="../tags/tag55.xml"/><Relationship Id="rId4" Type="http://schemas.openxmlformats.org/officeDocument/2006/relationships/tags" Target="../tags/tag54.xml"/><Relationship Id="rId3" Type="http://schemas.openxmlformats.org/officeDocument/2006/relationships/tags" Target="../tags/tag53.xml"/><Relationship Id="rId2" Type="http://schemas.openxmlformats.org/officeDocument/2006/relationships/tags" Target="../tags/tag52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单击此处编辑母版副标题样式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单击此处编辑文本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8" Type="http://schemas.openxmlformats.org/officeDocument/2006/relationships/theme" Target="../theme/theme1.xml"/><Relationship Id="rId17" Type="http://schemas.openxmlformats.org/officeDocument/2006/relationships/tags" Target="../tags/tag62.xml"/><Relationship Id="rId16" Type="http://schemas.openxmlformats.org/officeDocument/2006/relationships/tags" Target="../tags/tag61.xml"/><Relationship Id="rId15" Type="http://schemas.openxmlformats.org/officeDocument/2006/relationships/tags" Target="../tags/tag60.xml"/><Relationship Id="rId14" Type="http://schemas.openxmlformats.org/officeDocument/2006/relationships/tags" Target="../tags/tag59.xml"/><Relationship Id="rId13" Type="http://schemas.openxmlformats.org/officeDocument/2006/relationships/tags" Target="../tags/tag58.xml"/><Relationship Id="rId12" Type="http://schemas.openxmlformats.org/officeDocument/2006/relationships/tags" Target="../tags/tag57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6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  <p:custDataLst>
      <p:tags r:id="rId17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6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tags" Target="../tags/tag64.xml"/><Relationship Id="rId1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65.xml"/><Relationship Id="rId1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66.xml"/><Relationship Id="rId1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67.xml"/><Relationship Id="rId1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68.xml"/><Relationship Id="rId2" Type="http://schemas.openxmlformats.org/officeDocument/2006/relationships/image" Target="../media/image6.png"/><Relationship Id="rId1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文本框 3"/>
          <p:cNvSpPr txBox="1"/>
          <p:nvPr/>
        </p:nvSpPr>
        <p:spPr>
          <a:xfrm>
            <a:off x="3371215" y="2217420"/>
            <a:ext cx="7204710" cy="11988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400"/>
              <a:t>配置</a:t>
            </a:r>
            <a:r>
              <a:rPr lang="en-US" altLang="zh-CN" sz="2400"/>
              <a:t>agent</a:t>
            </a:r>
            <a:r>
              <a:rPr lang="zh-CN" altLang="en-US" sz="2400"/>
              <a:t>以及所用的</a:t>
            </a:r>
            <a:r>
              <a:rPr lang="en-US" altLang="zh-CN" sz="2400"/>
              <a:t>llm</a:t>
            </a:r>
            <a:endParaRPr lang="en-US" altLang="zh-CN" sz="2400"/>
          </a:p>
          <a:p>
            <a:r>
              <a:rPr lang="zh-CN" altLang="en-US" sz="2400"/>
              <a:t>对</a:t>
            </a:r>
            <a:r>
              <a:rPr lang="en-US" altLang="zh-CN" sz="2400"/>
              <a:t>llm</a:t>
            </a:r>
            <a:r>
              <a:rPr lang="zh-CN" altLang="en-US" sz="2400"/>
              <a:t>进行连接</a:t>
            </a:r>
            <a:r>
              <a:rPr lang="zh-CN" altLang="en-US" sz="2400"/>
              <a:t>并测试</a:t>
            </a:r>
            <a:endParaRPr lang="zh-CN" altLang="en-US" sz="2400"/>
          </a:p>
          <a:p>
            <a:r>
              <a:rPr lang="zh-CN" altLang="en-US" sz="2400"/>
              <a:t>编写</a:t>
            </a:r>
            <a:r>
              <a:rPr lang="en-US" altLang="zh-CN" sz="2400"/>
              <a:t>agent</a:t>
            </a:r>
            <a:r>
              <a:rPr lang="zh-CN" altLang="en-US" sz="2400"/>
              <a:t>基本代码</a:t>
            </a:r>
            <a:endParaRPr lang="zh-CN" altLang="en-US" sz="2400"/>
          </a:p>
        </p:txBody>
      </p:sp>
      <p:sp>
        <p:nvSpPr>
          <p:cNvPr id="5" name="文本框 4"/>
          <p:cNvSpPr txBox="1"/>
          <p:nvPr/>
        </p:nvSpPr>
        <p:spPr>
          <a:xfrm>
            <a:off x="4345305" y="1462405"/>
            <a:ext cx="4064000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3200"/>
              <a:t>吴沈炜</a:t>
            </a:r>
            <a:endParaRPr lang="zh-CN" altLang="en-US" sz="3200"/>
          </a:p>
        </p:txBody>
      </p:sp>
      <p:sp>
        <p:nvSpPr>
          <p:cNvPr id="6" name="文本框 5"/>
          <p:cNvSpPr txBox="1"/>
          <p:nvPr/>
        </p:nvSpPr>
        <p:spPr>
          <a:xfrm>
            <a:off x="3456940" y="3587750"/>
            <a:ext cx="4723765" cy="267652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4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成果物</a:t>
            </a:r>
            <a:r>
              <a:rPr lang="en-US" altLang="zh-CN" sz="24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:</a:t>
            </a:r>
            <a:endParaRPr lang="en-US" altLang="zh-CN" sz="240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r>
              <a:rPr lang="en-US" altLang="zh-CN" sz="24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1.rag_agent.yaml</a:t>
            </a:r>
            <a:endParaRPr lang="en-US" altLang="zh-CN" sz="240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+mn-ea"/>
            </a:endParaRPr>
          </a:p>
          <a:p>
            <a:r>
              <a:rPr lang="en-US" altLang="zh-CN" sz="24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2.</a:t>
            </a:r>
            <a:r>
              <a:rPr lang="en-US" altLang="zh-CN" sz="2400">
                <a:latin typeface="微软雅黑" panose="020B0503020204020204" charset="-122"/>
                <a:ea typeface="微软雅黑" panose="020B0503020204020204" charset="-122"/>
                <a:cs typeface="Times New Roman" panose="02020603050405020304" charset="0"/>
                <a:sym typeface="+mn-ea"/>
              </a:rPr>
              <a:t>rag_agent_template.py</a:t>
            </a:r>
            <a:endParaRPr lang="en-US" altLang="zh-CN" sz="240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+mn-ea"/>
            </a:endParaRPr>
          </a:p>
          <a:p>
            <a:r>
              <a:rPr lang="en-US" altLang="zh-CN" sz="24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3.qwen_flash.yaml</a:t>
            </a:r>
            <a:endParaRPr lang="en-US" altLang="zh-CN" sz="240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+mn-ea"/>
            </a:endParaRPr>
          </a:p>
          <a:p>
            <a:r>
              <a:rPr lang="en-US" altLang="zh-CN" sz="24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4.test_qwen_connection.py</a:t>
            </a:r>
            <a:endParaRPr lang="en-US" altLang="zh-CN" sz="240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+mn-ea"/>
            </a:endParaRPr>
          </a:p>
          <a:p>
            <a:r>
              <a:rPr lang="en-US" altLang="zh-CN" sz="24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5.qwen_openai_style_llm.</a:t>
            </a:r>
            <a:r>
              <a:rPr lang="en-US" altLang="zh-CN" sz="24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py</a:t>
            </a:r>
            <a:endParaRPr lang="en-US" altLang="zh-CN" sz="240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+mn-ea"/>
            </a:endParaRPr>
          </a:p>
          <a:p>
            <a:r>
              <a:rPr lang="zh-CN" altLang="en-US" sz="24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进度</a:t>
            </a:r>
            <a:r>
              <a:rPr lang="en-US" altLang="zh-CN" sz="24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:100%</a:t>
            </a:r>
            <a:r>
              <a:rPr lang="en-US" altLang="zh-CN" sz="2400">
                <a:latin typeface="Times New Roman" panose="02020603050405020304" charset="0"/>
                <a:ea typeface="宋体" panose="02010600030101010101" pitchFamily="2" charset="-122"/>
                <a:cs typeface="Times New Roman" panose="02020603050405020304" charset="0"/>
                <a:sym typeface="+mn-ea"/>
              </a:rPr>
              <a:t> </a:t>
            </a:r>
            <a:endParaRPr lang="en-US" altLang="zh-CN" sz="2400"/>
          </a:p>
        </p:txBody>
      </p:sp>
    </p:spTree>
    <p:custDataLst>
      <p:tags r:id="rId1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/>
          <p:cNvSpPr txBox="1"/>
          <p:nvPr/>
        </p:nvSpPr>
        <p:spPr>
          <a:xfrm>
            <a:off x="0" y="101600"/>
            <a:ext cx="538162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latin typeface="Times New Roman" panose="02020603050405020304" charset="0"/>
                <a:ea typeface="宋体" panose="02010600030101010101" pitchFamily="2" charset="-122"/>
                <a:cs typeface="Times New Roman" panose="02020603050405020304" charset="0"/>
              </a:rPr>
              <a:t>rag_agent.yaml:</a:t>
            </a:r>
            <a:r>
              <a:rPr lang="zh-CN" altLang="en-US">
                <a:latin typeface="Times New Roman" panose="02020603050405020304" charset="0"/>
                <a:ea typeface="宋体" panose="02010600030101010101" pitchFamily="2" charset="-122"/>
                <a:cs typeface="Times New Roman" panose="02020603050405020304" charset="0"/>
              </a:rPr>
              <a:t>定义了智能体的整体行为和功能</a:t>
            </a:r>
            <a:endParaRPr lang="zh-CN" altLang="en-US">
              <a:latin typeface="Times New Roman" panose="02020603050405020304" charset="0"/>
              <a:ea typeface="宋体" panose="02010600030101010101" pitchFamily="2" charset="-122"/>
              <a:cs typeface="Times New Roman" panose="02020603050405020304" charset="0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93980" y="469900"/>
            <a:ext cx="7504430" cy="3814445"/>
          </a:xfrm>
          <a:prstGeom prst="rect">
            <a:avLst/>
          </a:prstGeom>
        </p:spPr>
        <p:txBody>
          <a:bodyPr wrap="square">
            <a:noAutofit/>
          </a:bodyPr>
          <a:p>
            <a:pPr marL="0" indent="0">
              <a:lnSpc>
                <a:spcPct val="100000"/>
              </a:lnSpc>
              <a:spcBef>
                <a:spcPts val="1200"/>
              </a:spcBef>
              <a:spcAft>
                <a:spcPts val="800"/>
              </a:spcAft>
            </a:pPr>
            <a:r>
              <a:rPr lang="zh-CN" altLang="en-US" sz="1600" b="1" i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全局设定（</a:t>
            </a:r>
            <a:r>
              <a:rPr lang="en-US" altLang="zh-CN" sz="1600" b="1" i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Profile</a:t>
            </a:r>
            <a:r>
              <a:rPr lang="zh-CN" altLang="en-US" sz="1600" b="1" i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）</a:t>
            </a:r>
            <a:endParaRPr lang="zh-CN" altLang="en-US" sz="1600" b="1" i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marL="0" indent="0">
              <a:lnSpc>
                <a:spcPct val="100000"/>
              </a:lnSpc>
              <a:spcBef>
                <a:spcPct val="0"/>
              </a:spcBef>
              <a:spcAft>
                <a:spcPts val="800"/>
              </a:spcAft>
            </a:pPr>
            <a:r>
              <a:rPr lang="zh-CN" altLang="en-US" sz="1600" b="0" i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该部分是</a:t>
            </a:r>
            <a:r>
              <a:rPr lang="en-US" altLang="zh-CN" sz="1600" b="0" i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Agent</a:t>
            </a:r>
            <a:r>
              <a:rPr lang="zh-CN" altLang="en-US" sz="1600" b="0" i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的全局设定，包含了</a:t>
            </a:r>
            <a:r>
              <a:rPr lang="en-US" altLang="zh-CN" sz="1600" b="0" i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Agent</a:t>
            </a:r>
            <a:r>
              <a:rPr lang="zh-CN" altLang="en-US" sz="1600" b="0" i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的</a:t>
            </a:r>
            <a:r>
              <a:rPr lang="en-US" altLang="zh-CN" sz="1600" b="0" i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Target</a:t>
            </a:r>
            <a:r>
              <a:rPr lang="zh-CN" altLang="en-US" sz="1600" b="0" i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、</a:t>
            </a:r>
            <a:r>
              <a:rPr lang="en-US" altLang="zh-CN" sz="1600" b="0" i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Introduction</a:t>
            </a:r>
            <a:r>
              <a:rPr lang="zh-CN" altLang="en-US" sz="1600" b="0" i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、</a:t>
            </a:r>
            <a:r>
              <a:rPr lang="en-US" altLang="zh-CN" sz="1600" b="0" i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LLM</a:t>
            </a:r>
            <a:r>
              <a:rPr lang="zh-CN" altLang="en-US" sz="1600" b="0" i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部分。</a:t>
            </a:r>
            <a:endParaRPr lang="zh-CN" altLang="en-US" sz="1600" b="0" i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marL="0" indent="0">
              <a:lnSpc>
                <a:spcPct val="100000"/>
              </a:lnSpc>
              <a:spcBef>
                <a:spcPts val="1200"/>
              </a:spcBef>
              <a:spcAft>
                <a:spcPts val="800"/>
              </a:spcAft>
            </a:pPr>
            <a:r>
              <a:rPr lang="zh-CN" altLang="en-US" sz="1600" b="1" i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介绍（</a:t>
            </a:r>
            <a:r>
              <a:rPr lang="en-US" altLang="zh-CN" sz="1600" b="1" i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Introduction</a:t>
            </a:r>
            <a:r>
              <a:rPr lang="zh-CN" altLang="en-US" sz="1600" b="1" i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）</a:t>
            </a:r>
            <a:endParaRPr lang="zh-CN" altLang="en-US" sz="1600" b="1" i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marL="0" indent="0">
              <a:lnSpc>
                <a:spcPct val="100000"/>
              </a:lnSpc>
              <a:spcBef>
                <a:spcPct val="0"/>
              </a:spcBef>
              <a:spcAft>
                <a:spcPts val="800"/>
              </a:spcAft>
            </a:pPr>
            <a:r>
              <a:rPr lang="zh-CN" altLang="en-US" sz="1600" b="0" i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对于</a:t>
            </a:r>
            <a:r>
              <a:rPr lang="en-US" altLang="zh-CN" sz="1600" b="0" i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Agent</a:t>
            </a:r>
            <a:r>
              <a:rPr lang="zh-CN" altLang="en-US" sz="1600" b="0" i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的角色描述</a:t>
            </a:r>
            <a:endParaRPr lang="zh-CN" altLang="en-US" sz="1600" b="0" i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marL="0" indent="0">
              <a:lnSpc>
                <a:spcPct val="100000"/>
              </a:lnSpc>
              <a:spcBef>
                <a:spcPct val="0"/>
              </a:spcBef>
              <a:spcAft>
                <a:spcPts val="800"/>
              </a:spcAft>
            </a:pPr>
            <a:r>
              <a:rPr lang="zh-CN" altLang="en-US" sz="1600" b="1" i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目标（</a:t>
            </a:r>
            <a:r>
              <a:rPr lang="en-US" altLang="zh-CN" sz="1600" b="1" i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Target</a:t>
            </a:r>
            <a:r>
              <a:rPr lang="zh-CN" altLang="en-US" sz="1600" b="1" i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）</a:t>
            </a:r>
            <a:endParaRPr lang="zh-CN" altLang="en-US" sz="1600" b="1" i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marL="0" indent="0">
              <a:lnSpc>
                <a:spcPct val="100000"/>
              </a:lnSpc>
              <a:spcBef>
                <a:spcPct val="0"/>
              </a:spcBef>
              <a:spcAft>
                <a:spcPts val="800"/>
              </a:spcAft>
            </a:pPr>
            <a:r>
              <a:rPr lang="en-US" altLang="zh-CN" sz="1600" b="0" i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Agent</a:t>
            </a:r>
            <a:r>
              <a:rPr lang="zh-CN" altLang="en-US" sz="1600" b="0" i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需要实现的核心目标</a:t>
            </a:r>
            <a:r>
              <a:rPr lang="en-US" altLang="zh-CN" sz="1600" b="0" i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, Agent</a:t>
            </a:r>
            <a:r>
              <a:rPr lang="zh-CN" altLang="en-US" sz="1600" b="0" i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会围绕着这个目标去完成后续一系列的工作</a:t>
            </a:r>
            <a:endParaRPr lang="zh-CN" altLang="en-US" sz="1600" b="0" i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marL="0" indent="0">
              <a:lnSpc>
                <a:spcPct val="100000"/>
              </a:lnSpc>
              <a:spcBef>
                <a:spcPct val="0"/>
              </a:spcBef>
              <a:spcAft>
                <a:spcPts val="800"/>
              </a:spcAft>
            </a:pPr>
            <a:r>
              <a:rPr lang="zh-CN" altLang="en-US" sz="1600" b="1" i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指令（</a:t>
            </a:r>
            <a:r>
              <a:rPr lang="en-US" altLang="zh-CN" sz="1600" b="1" i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Instruction</a:t>
            </a:r>
            <a:r>
              <a:rPr lang="zh-CN" altLang="en-US" sz="1600" b="1" i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）</a:t>
            </a:r>
            <a:endParaRPr lang="zh-CN" altLang="en-US" sz="1600" b="1" i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marL="0" indent="0">
              <a:lnSpc>
                <a:spcPct val="100000"/>
              </a:lnSpc>
              <a:spcBef>
                <a:spcPct val="0"/>
              </a:spcBef>
              <a:spcAft>
                <a:spcPts val="800"/>
              </a:spcAft>
            </a:pPr>
            <a:r>
              <a:rPr lang="zh-CN" altLang="en-US" sz="1600" b="0" i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包含了对于</a:t>
            </a:r>
            <a:r>
              <a:rPr lang="en-US" altLang="zh-CN" sz="1600" b="0" i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Agent</a:t>
            </a:r>
            <a:r>
              <a:rPr lang="zh-CN" altLang="en-US" sz="1600" b="0" i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的具体设定，如性格设定、背景知识、行为指导等</a:t>
            </a:r>
            <a:endParaRPr lang="zh-CN" altLang="en-US" sz="1600" b="0" i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marL="0" indent="0">
              <a:lnSpc>
                <a:spcPct val="100000"/>
              </a:lnSpc>
              <a:spcBef>
                <a:spcPct val="0"/>
              </a:spcBef>
              <a:spcAft>
                <a:spcPts val="800"/>
              </a:spcAft>
            </a:pPr>
            <a:r>
              <a:rPr lang="zh-CN" altLang="en-US" sz="1600" b="1" i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模型（</a:t>
            </a:r>
            <a:r>
              <a:rPr lang="en-US" altLang="zh-CN" sz="1600" b="1" i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LLM</a:t>
            </a:r>
            <a:r>
              <a:rPr lang="zh-CN" altLang="en-US" sz="1600" b="1" i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）</a:t>
            </a:r>
            <a:endParaRPr lang="zh-CN" altLang="en-US" sz="1600" b="1" i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marL="0" indent="0">
              <a:lnSpc>
                <a:spcPct val="100000"/>
              </a:lnSpc>
              <a:spcBef>
                <a:spcPct val="0"/>
              </a:spcBef>
              <a:spcAft>
                <a:spcPts val="800"/>
              </a:spcAft>
            </a:pPr>
            <a:r>
              <a:rPr lang="zh-CN" altLang="en-US" sz="1600" b="0" i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智能体</a:t>
            </a:r>
            <a:r>
              <a:rPr lang="en-US" altLang="zh-CN" sz="1600" b="0" i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(Agent)</a:t>
            </a:r>
            <a:r>
              <a:rPr lang="zh-CN" altLang="en-US" sz="1600" b="0" i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使用的</a:t>
            </a:r>
            <a:r>
              <a:rPr lang="en-US" altLang="zh-CN" sz="1600" b="0" i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LLM</a:t>
            </a:r>
            <a:r>
              <a:rPr lang="zh-CN" altLang="en-US" sz="1600" b="0" i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。</a:t>
            </a:r>
            <a:endParaRPr lang="zh-CN" altLang="en-US" sz="1600" b="0" i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</p:txBody>
      </p:sp>
      <p:pic>
        <p:nvPicPr>
          <p:cNvPr id="19" name="图片 18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34640" y="3310890"/>
            <a:ext cx="6522720" cy="3547110"/>
          </a:xfrm>
          <a:prstGeom prst="rect">
            <a:avLst/>
          </a:prstGeom>
        </p:spPr>
      </p:pic>
    </p:spTree>
    <p:custDataLst>
      <p:tags r:id="rId2"/>
    </p:custData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18025" y="205740"/>
            <a:ext cx="7722870" cy="6265545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104775" y="76200"/>
            <a:ext cx="6096000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rag_agent_template.py</a:t>
            </a:r>
            <a:endParaRPr lang="en-US" altLang="zh-CN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213995" y="847725"/>
            <a:ext cx="4389120" cy="14763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zh-CN" altLang="en-US"/>
              <a:t>同步与异步两种路径会先调用工具和知识检索，把得到的</a:t>
            </a:r>
            <a:r>
              <a:rPr lang="en-US" altLang="zh-CN"/>
              <a:t> tool_res </a:t>
            </a:r>
            <a:r>
              <a:rPr lang="zh-CN" altLang="en-US"/>
              <a:t>与</a:t>
            </a:r>
            <a:r>
              <a:rPr lang="en-US" altLang="zh-CN"/>
              <a:t> knowledge_res</a:t>
            </a:r>
            <a:r>
              <a:rPr lang="zh-CN" altLang="en-US"/>
              <a:t>交由</a:t>
            </a:r>
            <a:r>
              <a:rPr lang="en-US" altLang="zh-CN"/>
              <a:t>Memory</a:t>
            </a:r>
            <a:r>
              <a:rPr lang="zh-CN" altLang="en-US"/>
              <a:t>、</a:t>
            </a:r>
            <a:r>
              <a:rPr lang="en-US" altLang="zh-CN"/>
              <a:t>LLM </a:t>
            </a:r>
            <a:r>
              <a:rPr lang="zh-CN" altLang="en-US"/>
              <a:t>与</a:t>
            </a:r>
            <a:r>
              <a:rPr lang="en-US" altLang="zh-CN"/>
              <a:t> Prompt </a:t>
            </a:r>
            <a:r>
              <a:rPr lang="zh-CN" altLang="en-US"/>
              <a:t>完成生成；此外</a:t>
            </a:r>
            <a:r>
              <a:rPr lang="en-US" altLang="zh-CN"/>
              <a:t>,</a:t>
            </a:r>
            <a:r>
              <a:rPr lang="zh-CN" altLang="en-US"/>
              <a:t>支持通过</a:t>
            </a:r>
            <a:r>
              <a:rPr lang="en-US" altLang="zh-CN"/>
              <a:t> AgentConfiger </a:t>
            </a:r>
            <a:r>
              <a:rPr lang="zh-CN" altLang="en-US"/>
              <a:t>初始化自身配置</a:t>
            </a:r>
            <a:endParaRPr lang="zh-CN" altLang="en-US"/>
          </a:p>
        </p:txBody>
      </p:sp>
    </p:spTree>
    <p:custDataLst>
      <p:tags r:id="rId2"/>
    </p:custData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文本框 3"/>
          <p:cNvSpPr txBox="1"/>
          <p:nvPr/>
        </p:nvSpPr>
        <p:spPr>
          <a:xfrm>
            <a:off x="0" y="0"/>
            <a:ext cx="6096000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zh-CN">
                <a:latin typeface="Times New Roman" panose="02020603050405020304" charset="0"/>
                <a:ea typeface="宋体" panose="02010600030101010101" pitchFamily="2" charset="-122"/>
                <a:cs typeface="Times New Roman" panose="02020603050405020304" charset="0"/>
              </a:rPr>
              <a:t>qwen_flash.yaml :</a:t>
            </a:r>
            <a:r>
              <a:rPr lang="zh-CN" altLang="en-US">
                <a:latin typeface="Times New Roman" panose="02020603050405020304" charset="0"/>
                <a:ea typeface="宋体" panose="02010600030101010101" pitchFamily="2" charset="-122"/>
                <a:cs typeface="Times New Roman" panose="02020603050405020304" charset="0"/>
              </a:rPr>
              <a:t>配置所用的</a:t>
            </a:r>
            <a:r>
              <a:rPr lang="en-US" altLang="zh-CN">
                <a:latin typeface="Times New Roman" panose="02020603050405020304" charset="0"/>
                <a:ea typeface="宋体" panose="02010600030101010101" pitchFamily="2" charset="-122"/>
                <a:cs typeface="Times New Roman" panose="02020603050405020304" charset="0"/>
              </a:rPr>
              <a:t>LLM</a:t>
            </a:r>
            <a:endParaRPr lang="en-US" altLang="zh-CN">
              <a:latin typeface="Times New Roman" panose="02020603050405020304" charset="0"/>
              <a:ea typeface="宋体" panose="02010600030101010101" pitchFamily="2" charset="-122"/>
              <a:cs typeface="Times New Roman" panose="02020603050405020304" charset="0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139065" y="436245"/>
            <a:ext cx="6096000" cy="417449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indent="0">
              <a:lnSpc>
                <a:spcPct val="100000"/>
              </a:lnSpc>
              <a:spcBef>
                <a:spcPts val="1200"/>
              </a:spcBef>
              <a:spcAft>
                <a:spcPts val="800"/>
              </a:spcAft>
            </a:pPr>
            <a:r>
              <a:rPr lang="zh-CN" altLang="en-US" sz="1600" b="1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名称（</a:t>
            </a:r>
            <a:r>
              <a:rPr lang="en-US" altLang="zh-CN" sz="1600" b="1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name</a:t>
            </a:r>
            <a:r>
              <a:rPr lang="zh-CN" altLang="en-US" sz="1600" b="1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）</a:t>
            </a:r>
            <a:endParaRPr lang="zh-CN" altLang="en-US" sz="1600" b="1" i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marL="0" indent="0">
              <a:lnSpc>
                <a:spcPct val="100000"/>
              </a:lnSpc>
              <a:spcBef>
                <a:spcPct val="0"/>
              </a:spcBef>
              <a:spcAft>
                <a:spcPts val="800"/>
              </a:spcAft>
            </a:pPr>
            <a:r>
              <a:rPr lang="zh-CN" altLang="en-US" sz="16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模型在系统中的唯一标识</a:t>
            </a:r>
            <a:endParaRPr lang="zh-CN" altLang="en-US" sz="1600"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  <a:sym typeface="+mn-ea"/>
            </a:endParaRPr>
          </a:p>
          <a:p>
            <a:pPr marL="0" indent="0">
              <a:lnSpc>
                <a:spcPct val="100000"/>
              </a:lnSpc>
              <a:spcBef>
                <a:spcPct val="0"/>
              </a:spcBef>
              <a:spcAft>
                <a:spcPts val="800"/>
              </a:spcAft>
            </a:pPr>
            <a:r>
              <a:rPr lang="zh-CN" altLang="en-US" sz="1600" b="1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介绍（</a:t>
            </a:r>
            <a:r>
              <a:rPr lang="en-US" altLang="zh-CN" sz="1600" b="1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description</a:t>
            </a:r>
            <a:r>
              <a:rPr lang="zh-CN" altLang="en-US" sz="1600" b="1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）</a:t>
            </a:r>
            <a:endParaRPr lang="zh-CN" altLang="en-US" sz="1600" b="1" i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marL="0" indent="0">
              <a:lnSpc>
                <a:spcPct val="100000"/>
              </a:lnSpc>
              <a:spcBef>
                <a:spcPct val="0"/>
              </a:spcBef>
              <a:spcAft>
                <a:spcPts val="800"/>
              </a:spcAft>
            </a:pPr>
            <a:r>
              <a:rPr lang="zh-CN" altLang="en-US" sz="16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模型的简要描述</a:t>
            </a:r>
            <a:endParaRPr lang="zh-CN" altLang="en-US" sz="1600"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  <a:sym typeface="+mn-ea"/>
            </a:endParaRPr>
          </a:p>
          <a:p>
            <a:pPr marL="0" indent="0">
              <a:lnSpc>
                <a:spcPct val="100000"/>
              </a:lnSpc>
              <a:spcBef>
                <a:spcPct val="0"/>
              </a:spcBef>
              <a:spcAft>
                <a:spcPts val="800"/>
              </a:spcAft>
            </a:pPr>
            <a:r>
              <a:rPr lang="zh-CN" altLang="en-US" sz="1600" b="1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模型名称（</a:t>
            </a:r>
            <a:r>
              <a:rPr lang="en-US" altLang="zh-CN" sz="1600" b="1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model_name</a:t>
            </a:r>
            <a:r>
              <a:rPr lang="zh-CN" altLang="en-US" sz="1600" b="1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）</a:t>
            </a:r>
            <a:endParaRPr lang="zh-CN" altLang="en-US" sz="1600" b="1" i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marL="0" indent="0">
              <a:lnSpc>
                <a:spcPct val="100000"/>
              </a:lnSpc>
              <a:spcBef>
                <a:spcPct val="0"/>
              </a:spcBef>
              <a:spcAft>
                <a:spcPts val="800"/>
              </a:spcAft>
            </a:pPr>
            <a:r>
              <a:rPr lang="zh-CN" altLang="en-US" sz="16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对应阿里百炼平台中实际调用的模型名称</a:t>
            </a:r>
            <a:endParaRPr lang="zh-CN" altLang="en-US" sz="1600"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  <a:sym typeface="+mn-ea"/>
            </a:endParaRPr>
          </a:p>
          <a:p>
            <a:pPr marL="0" indent="0">
              <a:lnSpc>
                <a:spcPct val="100000"/>
              </a:lnSpc>
              <a:spcBef>
                <a:spcPct val="0"/>
              </a:spcBef>
              <a:spcAft>
                <a:spcPts val="800"/>
              </a:spcAft>
            </a:pPr>
            <a:r>
              <a:rPr lang="zh-CN" altLang="en-US" sz="1600" b="1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最大</a:t>
            </a:r>
            <a:r>
              <a:rPr lang="en-US" altLang="zh-CN" sz="1600" b="1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token</a:t>
            </a:r>
            <a:r>
              <a:rPr lang="zh-CN" altLang="en-US" sz="1600" b="1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（</a:t>
            </a:r>
            <a:r>
              <a:rPr lang="en-US" altLang="zh-CN" sz="1600" b="1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max_tokens</a:t>
            </a:r>
            <a:r>
              <a:rPr lang="zh-CN" altLang="en-US" sz="1600" b="1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）</a:t>
            </a:r>
            <a:endParaRPr lang="zh-CN" altLang="en-US" sz="1600" b="1" i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marL="0" indent="0">
              <a:lnSpc>
                <a:spcPct val="100000"/>
              </a:lnSpc>
              <a:spcBef>
                <a:spcPct val="0"/>
              </a:spcBef>
              <a:spcAft>
                <a:spcPts val="800"/>
              </a:spcAft>
            </a:pPr>
            <a:r>
              <a:rPr lang="zh-CN" altLang="en-US" sz="16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模型单次生成的最大</a:t>
            </a:r>
            <a:r>
              <a:rPr lang="en-US" altLang="zh-CN" sz="16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token</a:t>
            </a:r>
            <a:r>
              <a:rPr lang="zh-CN" altLang="en-US" sz="16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数量</a:t>
            </a:r>
            <a:endParaRPr lang="zh-CN" altLang="en-US" sz="1600"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  <a:sym typeface="+mn-ea"/>
            </a:endParaRPr>
          </a:p>
          <a:p>
            <a:pPr marL="0" indent="0">
              <a:lnSpc>
                <a:spcPct val="100000"/>
              </a:lnSpc>
              <a:spcBef>
                <a:spcPct val="0"/>
              </a:spcBef>
              <a:spcAft>
                <a:spcPts val="800"/>
              </a:spcAft>
            </a:pPr>
            <a:r>
              <a:rPr lang="en-US" altLang="zh-CN" sz="1600" b="1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api</a:t>
            </a:r>
            <a:r>
              <a:rPr lang="zh-CN" altLang="en-US" sz="1600" b="1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密钥（</a:t>
            </a:r>
            <a:r>
              <a:rPr lang="en-US" altLang="zh-CN" sz="1600" b="1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api_key</a:t>
            </a:r>
            <a:r>
              <a:rPr lang="zh-CN" altLang="en-US" sz="1600" b="1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）</a:t>
            </a:r>
            <a:endParaRPr lang="zh-CN" altLang="en-US" sz="1600" b="1" i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marL="0" indent="0">
              <a:lnSpc>
                <a:spcPct val="100000"/>
              </a:lnSpc>
              <a:spcBef>
                <a:spcPct val="0"/>
              </a:spcBef>
              <a:spcAft>
                <a:spcPts val="800"/>
              </a:spcAft>
            </a:pPr>
            <a:r>
              <a:rPr lang="zh-CN" altLang="en-US" sz="16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阿里云百炼平台的</a:t>
            </a:r>
            <a:r>
              <a:rPr lang="en-US" altLang="zh-CN" sz="16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API</a:t>
            </a:r>
            <a:r>
              <a:rPr lang="zh-CN" altLang="en-US" sz="16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密钥</a:t>
            </a:r>
            <a:endParaRPr lang="zh-CN" altLang="en-US" sz="1600"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  <a:sym typeface="+mn-ea"/>
            </a:endParaRPr>
          </a:p>
          <a:p>
            <a:pPr marL="0" indent="0">
              <a:lnSpc>
                <a:spcPct val="100000"/>
              </a:lnSpc>
              <a:spcBef>
                <a:spcPct val="0"/>
              </a:spcBef>
              <a:spcAft>
                <a:spcPts val="800"/>
              </a:spcAft>
            </a:pPr>
            <a:r>
              <a:rPr lang="zh-CN" altLang="en-US" sz="1600" b="1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元数据</a:t>
            </a:r>
            <a:r>
              <a:rPr lang="zh-CN" altLang="en-US" sz="1600" b="1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（</a:t>
            </a:r>
            <a:r>
              <a:rPr lang="en-US" altLang="zh-CN" sz="1600" b="1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metadata</a:t>
            </a:r>
            <a:r>
              <a:rPr lang="zh-CN" altLang="en-US" sz="1600" b="1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）</a:t>
            </a:r>
            <a:endParaRPr lang="zh-CN" altLang="en-US" sz="1600" b="1"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  <a:sym typeface="+mn-ea"/>
            </a:endParaRPr>
          </a:p>
          <a:p>
            <a:pPr marL="0" indent="0">
              <a:lnSpc>
                <a:spcPct val="100000"/>
              </a:lnSpc>
              <a:spcBef>
                <a:spcPct val="0"/>
              </a:spcBef>
              <a:spcAft>
                <a:spcPts val="800"/>
              </a:spcAft>
            </a:pPr>
            <a:r>
              <a:rPr lang="zh-CN" altLang="en-US" sz="16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指定实现该模型的</a:t>
            </a:r>
            <a:r>
              <a:rPr lang="en-US" altLang="zh-CN" sz="16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Python</a:t>
            </a:r>
            <a:r>
              <a:rPr lang="zh-CN" altLang="en-US" sz="16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模块路径</a:t>
            </a:r>
            <a:r>
              <a:rPr lang="zh-CN" altLang="en-US" sz="16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rPr>
              <a:t>以及指定具体的实现类</a:t>
            </a:r>
            <a:endParaRPr lang="zh-CN" altLang="en-US" sz="1600"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  <a:sym typeface="+mn-ea"/>
            </a:endParaRPr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16980" y="436245"/>
            <a:ext cx="4196715" cy="2901315"/>
          </a:xfrm>
          <a:prstGeom prst="rect">
            <a:avLst/>
          </a:prstGeom>
        </p:spPr>
      </p:pic>
    </p:spTree>
    <p:custDataLst>
      <p:tags r:id="rId2"/>
    </p:custData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98085" y="84455"/>
            <a:ext cx="7016750" cy="6858000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213995" y="245110"/>
            <a:ext cx="302069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  <a:sym typeface="+mn-ea"/>
              </a:rPr>
              <a:t>qwen_openai_style_llm.py</a:t>
            </a:r>
            <a:endParaRPr lang="en-US" altLang="zh-CN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  <a:sym typeface="+mn-ea"/>
            </a:endParaRPr>
          </a:p>
          <a:p>
            <a:endParaRPr lang="zh-CN" altLang="en-US">
              <a:latin typeface="Times New Roman" panose="02020603050405020304" charset="0"/>
              <a:cs typeface="Times New Roman" panose="02020603050405020304" charset="0"/>
            </a:endParaRPr>
          </a:p>
        </p:txBody>
      </p:sp>
    </p:spTree>
    <p:custDataLst>
      <p:tags r:id="rId2"/>
    </p:custData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425" y="603885"/>
            <a:ext cx="6015355" cy="6254115"/>
          </a:xfrm>
          <a:prstGeom prst="rect">
            <a:avLst/>
          </a:prstGeom>
        </p:spPr>
      </p:pic>
      <p:pic>
        <p:nvPicPr>
          <p:cNvPr id="3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1260" y="392430"/>
            <a:ext cx="5920740" cy="6465570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98425" y="44450"/>
            <a:ext cx="6096000" cy="4603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zh-CN" sz="24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  <a:sym typeface="+mn-ea"/>
              </a:rPr>
              <a:t>test_qwen_connection.py</a:t>
            </a:r>
            <a:endParaRPr lang="en-US" altLang="zh-CN" sz="24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  <a:sym typeface="+mn-ea"/>
            </a:endParaRPr>
          </a:p>
        </p:txBody>
      </p:sp>
    </p:spTree>
    <p:custDataLst>
      <p:tags r:id="rId3"/>
    </p:custDataLst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63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64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65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66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67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68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777</Words>
  <Application>WPS 演示</Application>
  <PresentationFormat>宽屏</PresentationFormat>
  <Paragraphs>51</Paragraphs>
  <Slides>6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6</vt:i4>
      </vt:variant>
    </vt:vector>
  </HeadingPairs>
  <TitlesOfParts>
    <vt:vector size="15" baseType="lpstr">
      <vt:lpstr>Arial</vt:lpstr>
      <vt:lpstr>宋体</vt:lpstr>
      <vt:lpstr>Wingdings</vt:lpstr>
      <vt:lpstr>Wingdings</vt:lpstr>
      <vt:lpstr>Times New Roman</vt:lpstr>
      <vt:lpstr>微软雅黑</vt:lpstr>
      <vt:lpstr>Arial Unicode MS</vt:lpstr>
      <vt:lpstr>Calibri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/>
  <cp:lastModifiedBy>wswCR7</cp:lastModifiedBy>
  <cp:revision>165</cp:revision>
  <dcterms:created xsi:type="dcterms:W3CDTF">2019-06-19T02:08:00Z</dcterms:created>
  <dcterms:modified xsi:type="dcterms:W3CDTF">2025-10-30T02:57:42Z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2052-12.1.0.23125</vt:lpwstr>
  </property>
  <property fmtid="{D5CDD505-2E9C-101B-9397-08002B2CF9AE}" pid="3" name="ICV">
    <vt:lpwstr>3BADC1167E9147CEB0585C9466A58B0B_13</vt:lpwstr>
  </property>
</Properties>
</file>